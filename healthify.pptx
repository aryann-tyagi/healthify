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8288000" cy="10287000"/>
  <p:notesSz cx="6858000" cy="9144000"/>
  <p:embeddedFontLst>
    <p:embeddedFont>
      <p:font typeface="Bicubik" panose="02000503020000020004" charset="0"/>
      <p:regular r:id="rId38"/>
    </p:embeddedFont>
    <p:embeddedFont>
      <p:font typeface="Canva Sans" panose="020B0604020202020204" charset="0"/>
      <p:regular r:id="rId39"/>
    </p:embeddedFont>
    <p:embeddedFont>
      <p:font typeface="Canva Sans Bold" panose="020B0604020202020204" charset="0"/>
      <p:regular r:id="rId40"/>
    </p:embeddedFont>
    <p:embeddedFont>
      <p:font typeface="Times New Roman Bold" panose="02020803070505020304" pitchFamily="18" charset="0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10.svg"/><Relationship Id="rId7" Type="http://schemas.openxmlformats.org/officeDocument/2006/relationships/image" Target="../media/image5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03" b="-170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12866648" y="4259597"/>
            <a:ext cx="334898" cy="3436052"/>
          </a:xfrm>
          <a:custGeom>
            <a:avLst/>
            <a:gdLst/>
            <a:ahLst/>
            <a:cxnLst/>
            <a:rect l="l" t="t" r="r" b="b"/>
            <a:pathLst>
              <a:path w="334898" h="3436052">
                <a:moveTo>
                  <a:pt x="0" y="0"/>
                </a:moveTo>
                <a:lnTo>
                  <a:pt x="334898" y="0"/>
                </a:lnTo>
                <a:lnTo>
                  <a:pt x="334898" y="3436053"/>
                </a:lnTo>
                <a:lnTo>
                  <a:pt x="0" y="3436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500726" y="301825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2657341" y="3174872"/>
            <a:ext cx="3801571" cy="3801571"/>
          </a:xfrm>
          <a:custGeom>
            <a:avLst/>
            <a:gdLst/>
            <a:ahLst/>
            <a:cxnLst/>
            <a:rect l="l" t="t" r="r" b="b"/>
            <a:pathLst>
              <a:path w="3801571" h="3801571">
                <a:moveTo>
                  <a:pt x="0" y="0"/>
                </a:moveTo>
                <a:lnTo>
                  <a:pt x="3801570" y="0"/>
                </a:lnTo>
                <a:lnTo>
                  <a:pt x="3801570" y="3801571"/>
                </a:lnTo>
                <a:lnTo>
                  <a:pt x="0" y="3801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0" y="0"/>
            <a:ext cx="7315200" cy="1383238"/>
          </a:xfrm>
          <a:custGeom>
            <a:avLst/>
            <a:gdLst/>
            <a:ahLst/>
            <a:cxnLst/>
            <a:rect l="l" t="t" r="r" b="b"/>
            <a:pathLst>
              <a:path w="7315200" h="1383238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8752089" y="3924064"/>
            <a:ext cx="8564015" cy="167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93"/>
              </a:lnSpc>
              <a:spcBef>
                <a:spcPct val="0"/>
              </a:spcBef>
            </a:pPr>
            <a:r>
              <a:rPr lang="en-US" sz="9709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HEALTHIFY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71707" y="7349471"/>
            <a:ext cx="5244397" cy="1472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06"/>
              </a:lnSpc>
              <a:spcBef>
                <a:spcPct val="0"/>
              </a:spcBef>
            </a:pPr>
            <a:r>
              <a:rPr lang="en-US" sz="279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Aryan (42223210009)</a:t>
            </a:r>
          </a:p>
          <a:p>
            <a:pPr algn="r">
              <a:lnSpc>
                <a:spcPts val="3906"/>
              </a:lnSpc>
              <a:spcBef>
                <a:spcPct val="0"/>
              </a:spcBef>
            </a:pPr>
            <a:r>
              <a:rPr lang="en-US" sz="279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Prince Panwar(42223210014)</a:t>
            </a:r>
          </a:p>
          <a:p>
            <a:pPr algn="r">
              <a:lnSpc>
                <a:spcPts val="3906"/>
              </a:lnSpc>
              <a:spcBef>
                <a:spcPct val="0"/>
              </a:spcBef>
            </a:pPr>
            <a:r>
              <a:rPr lang="en-US" sz="279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Garvit Jhamb (42223210021)</a:t>
            </a:r>
          </a:p>
        </p:txBody>
      </p:sp>
      <p:sp>
        <p:nvSpPr>
          <p:cNvPr id="15" name="Freeform 15"/>
          <p:cNvSpPr/>
          <p:nvPr/>
        </p:nvSpPr>
        <p:spPr>
          <a:xfrm>
            <a:off x="9749640" y="9031194"/>
            <a:ext cx="7940842" cy="173255"/>
          </a:xfrm>
          <a:custGeom>
            <a:avLst/>
            <a:gdLst/>
            <a:ahLst/>
            <a:cxnLst/>
            <a:rect l="l" t="t" r="r" b="b"/>
            <a:pathLst>
              <a:path w="7940842" h="173255">
                <a:moveTo>
                  <a:pt x="0" y="0"/>
                </a:moveTo>
                <a:lnTo>
                  <a:pt x="7940842" y="0"/>
                </a:lnTo>
                <a:lnTo>
                  <a:pt x="7940842" y="173254"/>
                </a:lnTo>
                <a:lnTo>
                  <a:pt x="0" y="173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26198" y="3745146"/>
            <a:ext cx="4402359" cy="4542772"/>
          </a:xfrm>
          <a:custGeom>
            <a:avLst/>
            <a:gdLst/>
            <a:ahLst/>
            <a:cxnLst/>
            <a:rect l="l" t="t" r="r" b="b"/>
            <a:pathLst>
              <a:path w="4402359" h="4542772">
                <a:moveTo>
                  <a:pt x="0" y="0"/>
                </a:moveTo>
                <a:lnTo>
                  <a:pt x="4402360" y="0"/>
                </a:lnTo>
                <a:lnTo>
                  <a:pt x="4402360" y="4542772"/>
                </a:lnTo>
                <a:lnTo>
                  <a:pt x="0" y="4542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6558197" y="3592600"/>
            <a:ext cx="10701103" cy="4781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734" lvl="1" indent="-365867" algn="l">
              <a:lnSpc>
                <a:spcPts val="4744"/>
              </a:lnSpc>
              <a:buFont typeface="Arial"/>
              <a:buChar char="•"/>
            </a:pPr>
            <a:r>
              <a:rPr lang="en-US" sz="33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INTRODUCTION &amp; CONTEXT</a:t>
            </a:r>
          </a:p>
          <a:p>
            <a:pPr marL="731734" lvl="1" indent="-365867" algn="l">
              <a:lnSpc>
                <a:spcPts val="4744"/>
              </a:lnSpc>
              <a:buFont typeface="Arial"/>
              <a:buChar char="•"/>
            </a:pPr>
            <a:r>
              <a:rPr lang="en-US" sz="33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 &amp; OBJECTIVES</a:t>
            </a:r>
          </a:p>
          <a:p>
            <a:pPr marL="731734" lvl="1" indent="-365867" algn="l">
              <a:lnSpc>
                <a:spcPts val="4744"/>
              </a:lnSpc>
              <a:buFont typeface="Arial"/>
              <a:buChar char="•"/>
            </a:pPr>
            <a:r>
              <a:rPr lang="en-US" sz="33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TECHNOLOGY STACK</a:t>
            </a:r>
          </a:p>
          <a:p>
            <a:pPr marL="731734" lvl="1" indent="-365867" algn="l">
              <a:lnSpc>
                <a:spcPts val="4744"/>
              </a:lnSpc>
              <a:buFont typeface="Arial"/>
              <a:buChar char="•"/>
            </a:pPr>
            <a:r>
              <a:rPr lang="en-US" sz="33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SYSTEM ARCHITECTURE &amp; DESIGN</a:t>
            </a:r>
          </a:p>
          <a:p>
            <a:pPr marL="731734" lvl="1" indent="-365867" algn="l">
              <a:lnSpc>
                <a:spcPts val="4744"/>
              </a:lnSpc>
              <a:buFont typeface="Arial"/>
              <a:buChar char="•"/>
            </a:pPr>
            <a:r>
              <a:rPr lang="en-US" sz="33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MODULES &amp; FEATURES</a:t>
            </a:r>
          </a:p>
          <a:p>
            <a:pPr marL="731734" lvl="1" indent="-365867" algn="l">
              <a:lnSpc>
                <a:spcPts val="4744"/>
              </a:lnSpc>
              <a:buFont typeface="Arial"/>
              <a:buChar char="•"/>
            </a:pPr>
            <a:r>
              <a:rPr lang="en-US" sz="33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UI SCREENSHOTS &amp; DEMO</a:t>
            </a:r>
          </a:p>
          <a:p>
            <a:pPr marL="731734" lvl="1" indent="-365867" algn="l">
              <a:lnSpc>
                <a:spcPts val="4744"/>
              </a:lnSpc>
              <a:buFont typeface="Arial"/>
              <a:buChar char="•"/>
            </a:pPr>
            <a:r>
              <a:rPr lang="en-US" sz="33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TESTING, SECURITY &amp; CHALLENGES</a:t>
            </a:r>
          </a:p>
          <a:p>
            <a:pPr marL="731734" lvl="1" indent="-365867" algn="l">
              <a:lnSpc>
                <a:spcPts val="4744"/>
              </a:lnSpc>
              <a:buFont typeface="Arial"/>
              <a:buChar char="•"/>
            </a:pPr>
            <a:r>
              <a:rPr lang="en-US" sz="33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CONCLUSION &amp; FUTURE 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00100"/>
            <a:ext cx="8641125" cy="110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2053800"/>
            <a:ext cx="8115300" cy="177061"/>
          </a:xfrm>
          <a:custGeom>
            <a:avLst/>
            <a:gdLst/>
            <a:ahLst/>
            <a:cxnLst/>
            <a:rect l="l" t="t" r="r" b="b"/>
            <a:pathLst>
              <a:path w="8115300" h="177061">
                <a:moveTo>
                  <a:pt x="0" y="0"/>
                </a:moveTo>
                <a:lnTo>
                  <a:pt x="8115300" y="0"/>
                </a:lnTo>
                <a:lnTo>
                  <a:pt x="8115300" y="177062"/>
                </a:lnTo>
                <a:lnTo>
                  <a:pt x="0" y="177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03" b="-170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10328" y="3268884"/>
            <a:ext cx="16680154" cy="5488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2800" b="1" spc="7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Healthify </a:t>
            </a:r>
            <a:r>
              <a:rPr lang="en-US" sz="2800" spc="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 a smart, AI-powered healthcare website that helps users with two key needs:</a:t>
            </a:r>
          </a:p>
          <a:p>
            <a:pPr marL="604589" lvl="1" indent="-302295" algn="l">
              <a:lnSpc>
                <a:spcPts val="4396"/>
              </a:lnSpc>
              <a:buAutoNum type="arabicPeriod"/>
            </a:pPr>
            <a:r>
              <a:rPr lang="en-US" sz="2800" spc="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Understanding prescriptions</a:t>
            </a:r>
          </a:p>
          <a:p>
            <a:pPr marL="604589" lvl="1" indent="-302295" algn="l">
              <a:lnSpc>
                <a:spcPts val="4396"/>
              </a:lnSpc>
              <a:buAutoNum type="arabicPeriod"/>
            </a:pPr>
            <a:r>
              <a:rPr lang="en-US" sz="2800" spc="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Identifying diseases from symptoms</a:t>
            </a:r>
          </a:p>
          <a:p>
            <a:pPr algn="l">
              <a:lnSpc>
                <a:spcPts val="4396"/>
              </a:lnSpc>
            </a:pPr>
            <a:r>
              <a:rPr lang="en-US" sz="2800" spc="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Using advanced tools like OCR (Optical Character Recognition), Healthify makes healthcare easier for people who may not have quick access to a doctor or find medical language confusing.</a:t>
            </a:r>
          </a:p>
          <a:p>
            <a:pPr algn="l">
              <a:lnSpc>
                <a:spcPts val="4396"/>
              </a:lnSpc>
            </a:pPr>
            <a:r>
              <a:rPr lang="en-US" sz="2800" spc="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 a user-friendly design, you can:</a:t>
            </a:r>
          </a:p>
          <a:p>
            <a:pPr marL="604589" lvl="1" indent="-302295" algn="l">
              <a:lnSpc>
                <a:spcPts val="4396"/>
              </a:lnSpc>
              <a:buFont typeface="Arial"/>
              <a:buChar char="•"/>
            </a:pPr>
            <a:r>
              <a:rPr lang="en-US" sz="2800" spc="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Upload a photo of a prescription, and Healthify will read it for you—highlighting the medicine names, doses, and instructions.</a:t>
            </a:r>
          </a:p>
          <a:p>
            <a:pPr marL="604589" lvl="1" indent="-302295" algn="l">
              <a:lnSpc>
                <a:spcPts val="4396"/>
              </a:lnSpc>
              <a:buFont typeface="Arial"/>
              <a:buChar char="•"/>
            </a:pPr>
            <a:r>
              <a:rPr lang="en-US" sz="2800" spc="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Enter your symptoms, and the AI will suggest possible diseases and helpful guidance.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5309971" y="746865"/>
            <a:ext cx="1451217" cy="1451217"/>
            <a:chOff x="0" y="0"/>
            <a:chExt cx="13884457" cy="13884457"/>
          </a:xfrm>
        </p:grpSpPr>
        <p:sp>
          <p:nvSpPr>
            <p:cNvPr id="14" name="Freeform 14"/>
            <p:cNvSpPr/>
            <p:nvPr/>
          </p:nvSpPr>
          <p:spPr>
            <a:xfrm>
              <a:off x="-342874" y="-11125"/>
              <a:ext cx="14570202" cy="13906705"/>
            </a:xfrm>
            <a:custGeom>
              <a:avLst/>
              <a:gdLst/>
              <a:ahLst/>
              <a:cxnLst/>
              <a:rect l="l" t="t" r="r" b="b"/>
              <a:pathLst>
                <a:path w="14570202" h="13906705">
                  <a:moveTo>
                    <a:pt x="7285101" y="11125"/>
                  </a:moveTo>
                  <a:cubicBezTo>
                    <a:pt x="4797487" y="0"/>
                    <a:pt x="2494061" y="1320743"/>
                    <a:pt x="1247030" y="3473245"/>
                  </a:cubicBezTo>
                  <a:cubicBezTo>
                    <a:pt x="0" y="5625748"/>
                    <a:pt x="0" y="8280957"/>
                    <a:pt x="1247030" y="10433459"/>
                  </a:cubicBezTo>
                  <a:cubicBezTo>
                    <a:pt x="2494061" y="12585962"/>
                    <a:pt x="4797487" y="13906705"/>
                    <a:pt x="7285101" y="13895580"/>
                  </a:cubicBezTo>
                  <a:cubicBezTo>
                    <a:pt x="9772716" y="13906705"/>
                    <a:pt x="12076142" y="12585962"/>
                    <a:pt x="13323172" y="10433459"/>
                  </a:cubicBezTo>
                  <a:cubicBezTo>
                    <a:pt x="14570202" y="8280957"/>
                    <a:pt x="14570202" y="5625748"/>
                    <a:pt x="13323172" y="3473245"/>
                  </a:cubicBezTo>
                  <a:cubicBezTo>
                    <a:pt x="12076142" y="1320743"/>
                    <a:pt x="9772716" y="0"/>
                    <a:pt x="7285101" y="11125"/>
                  </a:cubicBezTo>
                  <a:close/>
                </a:path>
              </a:pathLst>
            </a:custGeom>
            <a:solidFill>
              <a:srgbClr val="00FFF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-254486" y="73238"/>
              <a:ext cx="14393428" cy="13737980"/>
            </a:xfrm>
            <a:custGeom>
              <a:avLst/>
              <a:gdLst/>
              <a:ahLst/>
              <a:cxnLst/>
              <a:rect l="l" t="t" r="r" b="b"/>
              <a:pathLst>
                <a:path w="14393428" h="13737980">
                  <a:moveTo>
                    <a:pt x="7196713" y="10990"/>
                  </a:moveTo>
                  <a:cubicBezTo>
                    <a:pt x="4739280" y="0"/>
                    <a:pt x="2463801" y="1304718"/>
                    <a:pt x="1231900" y="3431105"/>
                  </a:cubicBezTo>
                  <a:cubicBezTo>
                    <a:pt x="0" y="5557493"/>
                    <a:pt x="0" y="8180486"/>
                    <a:pt x="1231900" y="10306873"/>
                  </a:cubicBezTo>
                  <a:cubicBezTo>
                    <a:pt x="2463801" y="12433261"/>
                    <a:pt x="4739280" y="13737979"/>
                    <a:pt x="7196713" y="13726989"/>
                  </a:cubicBezTo>
                  <a:cubicBezTo>
                    <a:pt x="9654147" y="13737979"/>
                    <a:pt x="11929626" y="12433261"/>
                    <a:pt x="13161527" y="10306873"/>
                  </a:cubicBezTo>
                  <a:cubicBezTo>
                    <a:pt x="14393428" y="8180486"/>
                    <a:pt x="14393428" y="5557493"/>
                    <a:pt x="13161527" y="3431105"/>
                  </a:cubicBezTo>
                  <a:cubicBezTo>
                    <a:pt x="11929626" y="1304718"/>
                    <a:pt x="9654147" y="0"/>
                    <a:pt x="7196713" y="10990"/>
                  </a:cubicBezTo>
                  <a:close/>
                </a:path>
              </a:pathLst>
            </a:custGeom>
            <a:blipFill>
              <a:blip r:embed="rId3"/>
              <a:stretch>
                <a:fillRect l="-3419" r="-341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904875"/>
            <a:ext cx="12405177" cy="101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INTRODUCTION TO HEALTHIFY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28700" y="1960203"/>
            <a:ext cx="12405177" cy="270658"/>
          </a:xfrm>
          <a:custGeom>
            <a:avLst/>
            <a:gdLst/>
            <a:ahLst/>
            <a:cxnLst/>
            <a:rect l="l" t="t" r="r" b="b"/>
            <a:pathLst>
              <a:path w="12405177" h="270658">
                <a:moveTo>
                  <a:pt x="0" y="0"/>
                </a:moveTo>
                <a:lnTo>
                  <a:pt x="12405177" y="0"/>
                </a:lnTo>
                <a:lnTo>
                  <a:pt x="12405177" y="270659"/>
                </a:lnTo>
                <a:lnTo>
                  <a:pt x="0" y="270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03" b="-170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074354"/>
            <a:ext cx="8882410" cy="101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WHY THIS PROJECT?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962525"/>
            <a:ext cx="13823038" cy="191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There is a growing demand for efficient and accessible healthcare.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Many individuals lack access to proper diagnosis and preventive care.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presents opportunities to bridge these gaps and improve health outcomes.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3269239"/>
            <a:ext cx="8882410" cy="193798"/>
          </a:xfrm>
          <a:custGeom>
            <a:avLst/>
            <a:gdLst/>
            <a:ahLst/>
            <a:cxnLst/>
            <a:rect l="l" t="t" r="r" b="b"/>
            <a:pathLst>
              <a:path w="8882410" h="193798">
                <a:moveTo>
                  <a:pt x="0" y="0"/>
                </a:moveTo>
                <a:lnTo>
                  <a:pt x="8882410" y="0"/>
                </a:lnTo>
                <a:lnTo>
                  <a:pt x="8882410" y="193798"/>
                </a:lnTo>
                <a:lnTo>
                  <a:pt x="0" y="1937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138304" y="3357676"/>
            <a:ext cx="4945747" cy="4765901"/>
          </a:xfrm>
          <a:custGeom>
            <a:avLst/>
            <a:gdLst/>
            <a:ahLst/>
            <a:cxnLst/>
            <a:rect l="l" t="t" r="r" b="b"/>
            <a:pathLst>
              <a:path w="4945747" h="4765901">
                <a:moveTo>
                  <a:pt x="0" y="0"/>
                </a:moveTo>
                <a:lnTo>
                  <a:pt x="4945747" y="0"/>
                </a:lnTo>
                <a:lnTo>
                  <a:pt x="4945747" y="4765901"/>
                </a:lnTo>
                <a:lnTo>
                  <a:pt x="0" y="476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012054" y="904875"/>
            <a:ext cx="10701806" cy="101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SCOPE OF THE PROJECT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2054" y="2906388"/>
            <a:ext cx="8975273" cy="6756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1"/>
              </a:lnSpc>
            </a:pPr>
            <a:r>
              <a:rPr lang="en-US" sz="343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Features:</a:t>
            </a:r>
          </a:p>
          <a:p>
            <a:pPr marL="604519" lvl="1" indent="-302260" algn="l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Latest Healthcare news</a:t>
            </a:r>
          </a:p>
          <a:p>
            <a:pPr marL="604519" lvl="1" indent="-302260" algn="l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AI-Powered Analysis</a:t>
            </a:r>
          </a:p>
          <a:p>
            <a:pPr marL="604519" lvl="1" indent="-302260" algn="l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Image &amp; Text Processing</a:t>
            </a:r>
          </a:p>
          <a:p>
            <a:pPr marL="604519" lvl="1" indent="-302260" algn="l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Healthcare Blog</a:t>
            </a:r>
          </a:p>
          <a:p>
            <a:pPr marL="604519" lvl="1" indent="-302260" algn="l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Community Review System</a:t>
            </a:r>
          </a:p>
          <a:p>
            <a:pPr algn="l">
              <a:lnSpc>
                <a:spcPts val="4521"/>
              </a:lnSpc>
            </a:pPr>
            <a:endParaRPr lang="en-US" sz="27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291"/>
              </a:lnSpc>
            </a:pPr>
            <a:r>
              <a:rPr lang="en-US" sz="343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Areas:</a:t>
            </a:r>
          </a:p>
          <a:p>
            <a:pPr marL="604519" lvl="1" indent="-302260" algn="l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Early diagnosis</a:t>
            </a:r>
          </a:p>
          <a:p>
            <a:pPr marL="604519" lvl="1" indent="-302260" algn="l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Patient engagement</a:t>
            </a:r>
          </a:p>
          <a:p>
            <a:pPr marL="604519" lvl="1" indent="-302260" algn="l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Health information management</a:t>
            </a:r>
          </a:p>
          <a:p>
            <a:pPr algn="l">
              <a:lnSpc>
                <a:spcPts val="4110"/>
              </a:lnSpc>
            </a:pPr>
            <a:endParaRPr lang="en-US" sz="27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028700" y="1997731"/>
            <a:ext cx="10685160" cy="233131"/>
          </a:xfrm>
          <a:custGeom>
            <a:avLst/>
            <a:gdLst/>
            <a:ahLst/>
            <a:cxnLst/>
            <a:rect l="l" t="t" r="r" b="b"/>
            <a:pathLst>
              <a:path w="10685160" h="233131">
                <a:moveTo>
                  <a:pt x="0" y="0"/>
                </a:moveTo>
                <a:lnTo>
                  <a:pt x="10685160" y="0"/>
                </a:lnTo>
                <a:lnTo>
                  <a:pt x="10685160" y="233131"/>
                </a:lnTo>
                <a:lnTo>
                  <a:pt x="0" y="2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824162" y="2897647"/>
            <a:ext cx="3866320" cy="5480609"/>
          </a:xfrm>
          <a:custGeom>
            <a:avLst/>
            <a:gdLst/>
            <a:ahLst/>
            <a:cxnLst/>
            <a:rect l="l" t="t" r="r" b="b"/>
            <a:pathLst>
              <a:path w="3866320" h="5480609">
                <a:moveTo>
                  <a:pt x="0" y="0"/>
                </a:moveTo>
                <a:lnTo>
                  <a:pt x="3866320" y="0"/>
                </a:lnTo>
                <a:lnTo>
                  <a:pt x="3866320" y="5480608"/>
                </a:lnTo>
                <a:lnTo>
                  <a:pt x="0" y="548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028700" y="1467958"/>
            <a:ext cx="9612495" cy="101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PROBLEM STATEMENT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379313"/>
            <a:ext cx="12112368" cy="346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6"/>
              </a:lnSpc>
            </a:pPr>
            <a:r>
              <a:rPr lang="en-US" sz="335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in Current Healthcare:</a:t>
            </a:r>
          </a:p>
          <a:p>
            <a:pPr marL="703146" lvl="1" indent="-351573" algn="l">
              <a:lnSpc>
                <a:spcPts val="5536"/>
              </a:lnSpc>
              <a:buFont typeface="Arial"/>
              <a:buChar char="•"/>
            </a:pPr>
            <a:r>
              <a:rPr lang="en-US" sz="32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Lack of accessibility in rural or underdeveloped regions</a:t>
            </a:r>
          </a:p>
          <a:p>
            <a:pPr marL="703146" lvl="1" indent="-351573" algn="l">
              <a:lnSpc>
                <a:spcPts val="5536"/>
              </a:lnSpc>
              <a:buFont typeface="Arial"/>
              <a:buChar char="•"/>
            </a:pPr>
            <a:r>
              <a:rPr lang="en-US" sz="32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Inadequate personalization in treatment</a:t>
            </a:r>
          </a:p>
          <a:p>
            <a:pPr marL="703146" lvl="1" indent="-351573" algn="l">
              <a:lnSpc>
                <a:spcPts val="5536"/>
              </a:lnSpc>
              <a:buFont typeface="Arial"/>
              <a:buChar char="•"/>
            </a:pPr>
            <a:r>
              <a:rPr lang="en-US" sz="32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 costs and slow service delivery</a:t>
            </a:r>
          </a:p>
          <a:p>
            <a:pPr marL="703146" lvl="1" indent="-351573" algn="l">
              <a:lnSpc>
                <a:spcPts val="5536"/>
              </a:lnSpc>
              <a:buFont typeface="Arial"/>
              <a:buChar char="•"/>
            </a:pPr>
            <a:r>
              <a:rPr lang="en-US" sz="32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Fragmented data handling and information flow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2591084"/>
            <a:ext cx="9612495" cy="209727"/>
          </a:xfrm>
          <a:custGeom>
            <a:avLst/>
            <a:gdLst/>
            <a:ahLst/>
            <a:cxnLst/>
            <a:rect l="l" t="t" r="r" b="b"/>
            <a:pathLst>
              <a:path w="9612495" h="209727">
                <a:moveTo>
                  <a:pt x="0" y="0"/>
                </a:moveTo>
                <a:lnTo>
                  <a:pt x="9612495" y="0"/>
                </a:lnTo>
                <a:lnTo>
                  <a:pt x="9612495" y="209727"/>
                </a:lnTo>
                <a:lnTo>
                  <a:pt x="0" y="209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03" b="-170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73429" y="479195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2057150"/>
            <a:ext cx="7961781" cy="173712"/>
          </a:xfrm>
          <a:custGeom>
            <a:avLst/>
            <a:gdLst/>
            <a:ahLst/>
            <a:cxnLst/>
            <a:rect l="l" t="t" r="r" b="b"/>
            <a:pathLst>
              <a:path w="7961781" h="173712">
                <a:moveTo>
                  <a:pt x="0" y="0"/>
                </a:moveTo>
                <a:lnTo>
                  <a:pt x="7961781" y="0"/>
                </a:lnTo>
                <a:lnTo>
                  <a:pt x="7961781" y="173712"/>
                </a:lnTo>
                <a:lnTo>
                  <a:pt x="0" y="1737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5400000">
            <a:off x="5553360" y="6390126"/>
            <a:ext cx="7566747" cy="227002"/>
          </a:xfrm>
          <a:custGeom>
            <a:avLst/>
            <a:gdLst/>
            <a:ahLst/>
            <a:cxnLst/>
            <a:rect l="l" t="t" r="r" b="b"/>
            <a:pathLst>
              <a:path w="7566747" h="227002">
                <a:moveTo>
                  <a:pt x="0" y="0"/>
                </a:moveTo>
                <a:lnTo>
                  <a:pt x="7566747" y="0"/>
                </a:lnTo>
                <a:lnTo>
                  <a:pt x="7566747" y="227002"/>
                </a:lnTo>
                <a:lnTo>
                  <a:pt x="0" y="2270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028700" y="904875"/>
            <a:ext cx="7961781" cy="101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TARGET AUDIENCE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2475" y="2625003"/>
            <a:ext cx="8238006" cy="748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General Public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Anyone looking to understand their prescriptions better.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Individuals who want quick health assessments based on symptoms.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Patients with Chronic Illnesses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People who regularly receive prescriptions and want an easy way to keep track of their medicines.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Elderly Users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Older adults who may struggle with reading doctor’s handwriting or navigating medical terms.</a:t>
            </a:r>
          </a:p>
          <a:p>
            <a:pPr algn="l">
              <a:lnSpc>
                <a:spcPts val="3527"/>
              </a:lnSpc>
            </a:pPr>
            <a:endParaRPr lang="en-US" sz="27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682986" y="2625003"/>
            <a:ext cx="8188391" cy="6485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People in Rural or Remote Areas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Individuals with limited access to doctors or medical professionals.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 use Healthify as a first-level tool before deciding to travel for treatment.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Non-English Speakers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Users who need prescriptions or diagnoses translated into their native language.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Caregivers &amp; Family Members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Those managing medication or health concerns for others—like parents, grandparents, or children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03" b="-170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451868" y="4697408"/>
            <a:ext cx="5346674" cy="4114800"/>
          </a:xfrm>
          <a:custGeom>
            <a:avLst/>
            <a:gdLst/>
            <a:ahLst/>
            <a:cxnLst/>
            <a:rect l="l" t="t" r="r" b="b"/>
            <a:pathLst>
              <a:path w="5346674" h="4114800">
                <a:moveTo>
                  <a:pt x="0" y="0"/>
                </a:moveTo>
                <a:lnTo>
                  <a:pt x="5346674" y="0"/>
                </a:lnTo>
                <a:lnTo>
                  <a:pt x="53466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247146" y="2033497"/>
            <a:ext cx="13077413" cy="100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OBJECTIVES OF THE 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7146" y="5257114"/>
            <a:ext cx="7522845" cy="210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227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Disease prediction</a:t>
            </a:r>
          </a:p>
          <a:p>
            <a:pPr marL="604519" lvl="1" indent="-302260" algn="l">
              <a:lnSpc>
                <a:spcPts val="4227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Image-based report analysis</a:t>
            </a:r>
          </a:p>
          <a:p>
            <a:pPr marL="604519" lvl="1" indent="-302260" algn="l">
              <a:lnSpc>
                <a:spcPts val="4227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Text extraction from medical documents</a:t>
            </a:r>
          </a:p>
          <a:p>
            <a:pPr marL="604519" lvl="1" indent="-302260" algn="l">
              <a:lnSpc>
                <a:spcPts val="4227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User-generated content and feedback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3069392"/>
            <a:ext cx="13295859" cy="290091"/>
          </a:xfrm>
          <a:custGeom>
            <a:avLst/>
            <a:gdLst/>
            <a:ahLst/>
            <a:cxnLst/>
            <a:rect l="l" t="t" r="r" b="b"/>
            <a:pathLst>
              <a:path w="13295859" h="290091">
                <a:moveTo>
                  <a:pt x="0" y="0"/>
                </a:moveTo>
                <a:lnTo>
                  <a:pt x="13295859" y="0"/>
                </a:lnTo>
                <a:lnTo>
                  <a:pt x="13295859" y="290091"/>
                </a:lnTo>
                <a:lnTo>
                  <a:pt x="0" y="290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272464" y="4199118"/>
            <a:ext cx="4219335" cy="3605614"/>
          </a:xfrm>
          <a:custGeom>
            <a:avLst/>
            <a:gdLst/>
            <a:ahLst/>
            <a:cxnLst/>
            <a:rect l="l" t="t" r="r" b="b"/>
            <a:pathLst>
              <a:path w="4219335" h="3605614">
                <a:moveTo>
                  <a:pt x="0" y="0"/>
                </a:moveTo>
                <a:lnTo>
                  <a:pt x="4219335" y="0"/>
                </a:lnTo>
                <a:lnTo>
                  <a:pt x="4219335" y="3605613"/>
                </a:lnTo>
                <a:lnTo>
                  <a:pt x="0" y="3605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028700" y="904875"/>
            <a:ext cx="9602891" cy="101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EXPECTED OUTCOMES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132443"/>
            <a:ext cx="8922782" cy="2468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Early detection and intervention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Cost-effective services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Higher user engagement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Smoother communication and care coordination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2021344"/>
            <a:ext cx="9602891" cy="209518"/>
          </a:xfrm>
          <a:custGeom>
            <a:avLst/>
            <a:gdLst/>
            <a:ahLst/>
            <a:cxnLst/>
            <a:rect l="l" t="t" r="r" b="b"/>
            <a:pathLst>
              <a:path w="9602891" h="209518">
                <a:moveTo>
                  <a:pt x="0" y="0"/>
                </a:moveTo>
                <a:lnTo>
                  <a:pt x="9602891" y="0"/>
                </a:lnTo>
                <a:lnTo>
                  <a:pt x="9602891" y="209518"/>
                </a:lnTo>
                <a:lnTo>
                  <a:pt x="0" y="209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18297023" y="8230934"/>
            <a:ext cx="143377" cy="1179766"/>
            <a:chOff x="0" y="0"/>
            <a:chExt cx="46272" cy="3807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03" b="-170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3891649"/>
            <a:ext cx="16089821" cy="508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352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frontend of </a:t>
            </a:r>
            <a:r>
              <a:rPr lang="en-US" sz="352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Healthify</a:t>
            </a:r>
            <a:r>
              <a:rPr lang="en-US" sz="352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is built using:</a:t>
            </a:r>
          </a:p>
          <a:p>
            <a:pPr marL="604519" lvl="1" indent="-302260" algn="l">
              <a:lnSpc>
                <a:spcPts val="4367"/>
              </a:lnSpc>
              <a:buFont typeface="Arial"/>
              <a:buChar char="•"/>
            </a:pPr>
            <a:r>
              <a:rPr lang="en-US" sz="27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HTML:</a:t>
            </a: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Provides the structure and content of the web pages.</a:t>
            </a:r>
          </a:p>
          <a:p>
            <a:pPr marL="604519" lvl="1" indent="-302260" algn="l">
              <a:lnSpc>
                <a:spcPts val="4367"/>
              </a:lnSpc>
              <a:buFont typeface="Arial"/>
              <a:buChar char="•"/>
            </a:pPr>
            <a:r>
              <a:rPr lang="en-US" sz="27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CSS:</a:t>
            </a: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Styles the HTML elements, ensuring a visually appealing and consistent design (Tailwind CSS is used).</a:t>
            </a:r>
          </a:p>
          <a:p>
            <a:pPr marL="604519" lvl="1" indent="-302260" algn="l">
              <a:lnSpc>
                <a:spcPts val="4367"/>
              </a:lnSpc>
              <a:buFont typeface="Arial"/>
              <a:buChar char="•"/>
            </a:pPr>
            <a:r>
              <a:rPr lang="en-US" sz="27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JavaScript: </a:t>
            </a: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Enables interactivity and dynamic behavior on the client-side.</a:t>
            </a:r>
          </a:p>
          <a:p>
            <a:pPr marL="604519" lvl="1" indent="-302260" algn="l">
              <a:lnSpc>
                <a:spcPts val="4367"/>
              </a:lnSpc>
              <a:buFont typeface="Arial"/>
              <a:buChar char="•"/>
            </a:pPr>
            <a:r>
              <a:rPr lang="en-US" sz="27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React:</a:t>
            </a: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 JavaScript library for building user interfaces, used for creating a dynamic and responsive user experience.</a:t>
            </a:r>
          </a:p>
          <a:p>
            <a:pPr algn="l">
              <a:lnSpc>
                <a:spcPts val="4367"/>
              </a:lnSpc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These technologies were chosen for their ability to create a dynamic, responsive, and user-friendly interface.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652501" y="1028700"/>
            <a:ext cx="3606799" cy="2977249"/>
          </a:xfrm>
          <a:custGeom>
            <a:avLst/>
            <a:gdLst/>
            <a:ahLst/>
            <a:cxnLst/>
            <a:rect l="l" t="t" r="r" b="b"/>
            <a:pathLst>
              <a:path w="3606799" h="2977249">
                <a:moveTo>
                  <a:pt x="0" y="0"/>
                </a:moveTo>
                <a:lnTo>
                  <a:pt x="3606799" y="0"/>
                </a:lnTo>
                <a:lnTo>
                  <a:pt x="3606799" y="2977249"/>
                </a:lnTo>
                <a:lnTo>
                  <a:pt x="0" y="2977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028700" y="904875"/>
            <a:ext cx="11345249" cy="1004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1"/>
              </a:lnSpc>
              <a:spcBef>
                <a:spcPct val="0"/>
              </a:spcBef>
            </a:pPr>
            <a:r>
              <a:rPr lang="en-US" sz="5829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FRONTEND TECHNOLOGIES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1983329"/>
            <a:ext cx="11345249" cy="247533"/>
          </a:xfrm>
          <a:custGeom>
            <a:avLst/>
            <a:gdLst/>
            <a:ahLst/>
            <a:cxnLst/>
            <a:rect l="l" t="t" r="r" b="b"/>
            <a:pathLst>
              <a:path w="11345249" h="247533">
                <a:moveTo>
                  <a:pt x="0" y="0"/>
                </a:moveTo>
                <a:lnTo>
                  <a:pt x="11345249" y="0"/>
                </a:lnTo>
                <a:lnTo>
                  <a:pt x="11345249" y="247533"/>
                </a:lnTo>
                <a:lnTo>
                  <a:pt x="0" y="2475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31649" y="2495178"/>
            <a:ext cx="3527651" cy="6031403"/>
          </a:xfrm>
          <a:custGeom>
            <a:avLst/>
            <a:gdLst/>
            <a:ahLst/>
            <a:cxnLst/>
            <a:rect l="l" t="t" r="r" b="b"/>
            <a:pathLst>
              <a:path w="3527651" h="6031403">
                <a:moveTo>
                  <a:pt x="0" y="0"/>
                </a:moveTo>
                <a:lnTo>
                  <a:pt x="3527651" y="0"/>
                </a:lnTo>
                <a:lnTo>
                  <a:pt x="3527651" y="6031403"/>
                </a:lnTo>
                <a:lnTo>
                  <a:pt x="0" y="6031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904875"/>
            <a:ext cx="10814163" cy="101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BACKEND TECHNOLOGIES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614815"/>
            <a:ext cx="10975804" cy="35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345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backend of Healthify is powered by:</a:t>
            </a:r>
          </a:p>
          <a:p>
            <a:pPr marL="604519" lvl="1" indent="-302260" algn="l">
              <a:lnSpc>
                <a:spcPts val="5431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Node.js: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 JavaScript runtime environment for building scalable and efficient server-side applications.</a:t>
            </a:r>
          </a:p>
          <a:p>
            <a:pPr marL="604519" lvl="1" indent="-302260" algn="l">
              <a:lnSpc>
                <a:spcPts val="5431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Express: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 Node.js web application framework that provides tools for building APIs and handling server-side logic.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1994916"/>
            <a:ext cx="10814163" cy="235945"/>
          </a:xfrm>
          <a:custGeom>
            <a:avLst/>
            <a:gdLst/>
            <a:ahLst/>
            <a:cxnLst/>
            <a:rect l="l" t="t" r="r" b="b"/>
            <a:pathLst>
              <a:path w="10814163" h="235945">
                <a:moveTo>
                  <a:pt x="0" y="0"/>
                </a:moveTo>
                <a:lnTo>
                  <a:pt x="10814163" y="0"/>
                </a:lnTo>
                <a:lnTo>
                  <a:pt x="10814163" y="235946"/>
                </a:lnTo>
                <a:lnTo>
                  <a:pt x="0" y="235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470594"/>
            <a:ext cx="11560543" cy="461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46"/>
              </a:lnSpc>
            </a:pPr>
            <a:r>
              <a:rPr lang="en-US" sz="3658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project utilizes:</a:t>
            </a:r>
          </a:p>
          <a:p>
            <a:pPr marL="505206" lvl="1" indent="-252603" algn="l">
              <a:lnSpc>
                <a:spcPts val="4890"/>
              </a:lnSpc>
              <a:buFont typeface="Arial"/>
              <a:buChar char="•"/>
            </a:pPr>
            <a:r>
              <a:rPr lang="en-US" sz="234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Appwrite</a:t>
            </a:r>
            <a:r>
              <a:rPr lang="en-US" sz="234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234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backend-as-a-service (BaaS) platform for storing and managing application data with built-in authentication, databases, and cloud functions.</a:t>
            </a:r>
          </a:p>
          <a:p>
            <a:pPr marL="505206" lvl="1" indent="-252603" algn="l">
              <a:lnSpc>
                <a:spcPts val="4890"/>
              </a:lnSpc>
              <a:buFont typeface="Arial"/>
              <a:buChar char="•"/>
            </a:pPr>
            <a:r>
              <a:rPr lang="en-US" sz="234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GitHub:</a:t>
            </a:r>
            <a:r>
              <a:rPr lang="en-US" sz="234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 version control system for collaborative code management and tracking changes.</a:t>
            </a:r>
          </a:p>
          <a:p>
            <a:pPr marL="505206" lvl="1" indent="-252603" algn="l">
              <a:lnSpc>
                <a:spcPts val="4890"/>
              </a:lnSpc>
              <a:buFont typeface="Arial"/>
              <a:buChar char="•"/>
            </a:pPr>
            <a:r>
              <a:rPr lang="en-US" sz="234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VS Code</a:t>
            </a:r>
            <a:r>
              <a:rPr lang="en-US" sz="234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A code editor used for writing and editing the application's code.</a:t>
            </a:r>
          </a:p>
          <a:p>
            <a:pPr algn="l">
              <a:lnSpc>
                <a:spcPts val="4539"/>
              </a:lnSpc>
            </a:pPr>
            <a:endParaRPr lang="en-US" sz="234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457527" y="3917131"/>
            <a:ext cx="4483717" cy="4028947"/>
          </a:xfrm>
          <a:custGeom>
            <a:avLst/>
            <a:gdLst/>
            <a:ahLst/>
            <a:cxnLst/>
            <a:rect l="l" t="t" r="r" b="b"/>
            <a:pathLst>
              <a:path w="4483717" h="4028947">
                <a:moveTo>
                  <a:pt x="0" y="0"/>
                </a:moveTo>
                <a:lnTo>
                  <a:pt x="4483717" y="0"/>
                </a:lnTo>
                <a:lnTo>
                  <a:pt x="4483717" y="4028947"/>
                </a:lnTo>
                <a:lnTo>
                  <a:pt x="0" y="40289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904875"/>
            <a:ext cx="8703819" cy="101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DATABASE &amp; TOOLS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2040960"/>
            <a:ext cx="8703819" cy="189902"/>
          </a:xfrm>
          <a:custGeom>
            <a:avLst/>
            <a:gdLst/>
            <a:ahLst/>
            <a:cxnLst/>
            <a:rect l="l" t="t" r="r" b="b"/>
            <a:pathLst>
              <a:path w="8703819" h="189902">
                <a:moveTo>
                  <a:pt x="0" y="0"/>
                </a:moveTo>
                <a:lnTo>
                  <a:pt x="8703819" y="0"/>
                </a:lnTo>
                <a:lnTo>
                  <a:pt x="8703819" y="189902"/>
                </a:lnTo>
                <a:lnTo>
                  <a:pt x="0" y="189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04875"/>
            <a:ext cx="16457033" cy="96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8"/>
              </a:lnSpc>
              <a:spcBef>
                <a:spcPct val="0"/>
              </a:spcBef>
            </a:pPr>
            <a:r>
              <a:rPr lang="en-US" sz="55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AI &amp; IMAGE/TEXT PROCESSING LIBRARIES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6448" y="2825555"/>
            <a:ext cx="16844035" cy="695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6609" lvl="1" indent="-514350" algn="l">
              <a:lnSpc>
                <a:spcPts val="4199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Tesseract.js</a:t>
            </a:r>
          </a:p>
          <a:p>
            <a:pPr marL="302259" lvl="1" algn="l">
              <a:lnSpc>
                <a:spcPts val="4199"/>
              </a:lnSpc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JavaScript-based OCR (Optical Character Recognition) library.</a:t>
            </a:r>
          </a:p>
          <a:p>
            <a:pPr marL="302259" lvl="1" algn="l">
              <a:lnSpc>
                <a:spcPts val="4199"/>
              </a:lnSpc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to extract text from uploaded prescription images.</a:t>
            </a:r>
          </a:p>
          <a:p>
            <a:pPr marL="816609" lvl="1" indent="-514350" algn="l">
              <a:lnSpc>
                <a:spcPts val="4199"/>
              </a:lnSpc>
              <a:buFont typeface="+mj-lt"/>
              <a:buAutoNum type="arabicPeriod" startAt="2"/>
            </a:pPr>
            <a:r>
              <a:rPr lang="en-US" sz="24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Gemini AI</a:t>
            </a:r>
          </a:p>
          <a:p>
            <a:pPr marL="302259" lvl="1" algn="l">
              <a:lnSpc>
                <a:spcPts val="4199"/>
              </a:lnSpc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for disease prediction based on symptom input.</a:t>
            </a:r>
          </a:p>
          <a:p>
            <a:pPr marL="302259" lvl="1" algn="l">
              <a:lnSpc>
                <a:spcPts val="4199"/>
              </a:lnSpc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 processes user-provided symptoms and returns probable diseases using Gemini’s advanced language understanding.</a:t>
            </a:r>
          </a:p>
          <a:p>
            <a:pPr marL="816609" lvl="1" indent="-514350" algn="l">
              <a:lnSpc>
                <a:spcPts val="4199"/>
              </a:lnSpc>
              <a:buFont typeface="+mj-lt"/>
              <a:buAutoNum type="arabicPeriod" startAt="3"/>
            </a:pPr>
            <a:r>
              <a:rPr lang="en-US" sz="24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Translate API</a:t>
            </a:r>
          </a:p>
          <a:p>
            <a:pPr marL="302259" lvl="1" algn="l">
              <a:lnSpc>
                <a:spcPts val="4199"/>
              </a:lnSpc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Automatically translates extracted text and predicted results into regional languages.</a:t>
            </a:r>
          </a:p>
          <a:p>
            <a:pPr marL="302259" lvl="1" algn="l">
              <a:lnSpc>
                <a:spcPts val="4199"/>
              </a:lnSpc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Helps non-English speakers understand prescriptions and diagnosis.</a:t>
            </a:r>
          </a:p>
          <a:p>
            <a:pPr marL="302259" lvl="1" algn="l">
              <a:lnSpc>
                <a:spcPts val="4199"/>
              </a:lnSpc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Supports over 100 languages for wide accessibility.</a:t>
            </a:r>
          </a:p>
          <a:p>
            <a:pPr marL="816609" lvl="1" indent="-514350" algn="l">
              <a:lnSpc>
                <a:spcPts val="4199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News API</a:t>
            </a:r>
          </a:p>
          <a:p>
            <a:pPr marL="302259" lvl="1" algn="l">
              <a:lnSpc>
                <a:spcPts val="4199"/>
              </a:lnSpc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showing the latest news to the users.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1871799"/>
            <a:ext cx="16457033" cy="359063"/>
          </a:xfrm>
          <a:custGeom>
            <a:avLst/>
            <a:gdLst/>
            <a:ahLst/>
            <a:cxnLst/>
            <a:rect l="l" t="t" r="r" b="b"/>
            <a:pathLst>
              <a:path w="16457033" h="359063">
                <a:moveTo>
                  <a:pt x="0" y="0"/>
                </a:moveTo>
                <a:lnTo>
                  <a:pt x="16457033" y="0"/>
                </a:lnTo>
                <a:lnTo>
                  <a:pt x="16457033" y="359063"/>
                </a:lnTo>
                <a:lnTo>
                  <a:pt x="0" y="3590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8417" y="3072682"/>
            <a:ext cx="12299683" cy="577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3516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system architecture comprises the following layers:</a:t>
            </a:r>
          </a:p>
          <a:p>
            <a:pPr marL="508959" lvl="1" indent="-254480" algn="l">
              <a:lnSpc>
                <a:spcPts val="4926"/>
              </a:lnSpc>
              <a:buFont typeface="Arial"/>
              <a:buChar char="•"/>
            </a:pPr>
            <a:r>
              <a:rPr lang="en-US" sz="2357" b="1" dirty="0">
                <a:solidFill>
                  <a:srgbClr val="FFFFFF"/>
                </a:solidFill>
                <a:latin typeface="Canva Sans" panose="020B0604020202020204" charset="0"/>
                <a:ea typeface="Canva Sans Bold"/>
                <a:cs typeface="Canva Sans Bold"/>
                <a:sym typeface="Canva Sans Bold"/>
              </a:rPr>
              <a:t>Frontend: </a:t>
            </a:r>
            <a:r>
              <a:rPr lang="en-US" sz="2357" dirty="0">
                <a:solidFill>
                  <a:srgbClr val="FFFFFF"/>
                </a:solidFill>
                <a:latin typeface="Canva Sans" panose="020B0604020202020204" charset="0"/>
                <a:ea typeface="Canva Sans Bold"/>
                <a:cs typeface="Canva Sans Bold"/>
                <a:sym typeface="Canva Sans Bold"/>
              </a:rPr>
              <a:t>Handles user interface and user interactions.</a:t>
            </a:r>
          </a:p>
          <a:p>
            <a:pPr marL="508959" lvl="1" indent="-254480" algn="l">
              <a:lnSpc>
                <a:spcPts val="4926"/>
              </a:lnSpc>
              <a:buFont typeface="Arial"/>
              <a:buChar char="•"/>
            </a:pPr>
            <a:r>
              <a:rPr lang="en-US" sz="2357" b="1" dirty="0">
                <a:solidFill>
                  <a:srgbClr val="FFFFFF"/>
                </a:solidFill>
                <a:latin typeface="Canva Sans" panose="020B0604020202020204" charset="0"/>
                <a:ea typeface="Canva Sans Bold"/>
                <a:cs typeface="Canva Sans Bold"/>
                <a:sym typeface="Canva Sans Bold"/>
              </a:rPr>
              <a:t>Backend: </a:t>
            </a:r>
            <a:r>
              <a:rPr lang="en-US" sz="2357" dirty="0">
                <a:solidFill>
                  <a:srgbClr val="FFFFFF"/>
                </a:solidFill>
                <a:latin typeface="Canva Sans" panose="020B0604020202020204" charset="0"/>
                <a:ea typeface="Canva Sans Bold"/>
                <a:cs typeface="Canva Sans Bold"/>
                <a:sym typeface="Canva Sans Bold"/>
              </a:rPr>
              <a:t>Manages server-side logic, API endpoints, and data processing.</a:t>
            </a:r>
          </a:p>
          <a:p>
            <a:pPr marL="508959" lvl="1" indent="-254480" algn="l">
              <a:lnSpc>
                <a:spcPts val="4926"/>
              </a:lnSpc>
              <a:buFont typeface="Arial"/>
              <a:buChar char="•"/>
            </a:pPr>
            <a:r>
              <a:rPr lang="en-US" sz="2357" b="1" dirty="0">
                <a:solidFill>
                  <a:srgbClr val="FFFFFF"/>
                </a:solidFill>
                <a:latin typeface="Canva Sans" panose="020B0604020202020204" charset="0"/>
                <a:ea typeface="Canva Sans Bold"/>
                <a:cs typeface="Canva Sans Bold"/>
                <a:sym typeface="Canva Sans Bold"/>
              </a:rPr>
              <a:t>Database: </a:t>
            </a:r>
            <a:r>
              <a:rPr lang="en-US" sz="2357" dirty="0">
                <a:solidFill>
                  <a:srgbClr val="FFFFFF"/>
                </a:solidFill>
                <a:latin typeface="Canva Sans" panose="020B0604020202020204" charset="0"/>
                <a:ea typeface="Canva Sans Bold"/>
                <a:cs typeface="Canva Sans Bold"/>
                <a:sym typeface="Canva Sans Bold"/>
              </a:rPr>
              <a:t>Stores application data, including user information, medical records, and blog posts.</a:t>
            </a:r>
          </a:p>
          <a:p>
            <a:pPr marL="508959" lvl="1" indent="-254480" algn="l">
              <a:lnSpc>
                <a:spcPts val="4926"/>
              </a:lnSpc>
              <a:buFont typeface="Arial"/>
              <a:buChar char="•"/>
            </a:pPr>
            <a:r>
              <a:rPr lang="en-US" sz="2357" b="1" dirty="0">
                <a:solidFill>
                  <a:srgbClr val="FFFFFF"/>
                </a:solidFill>
                <a:latin typeface="Canva Sans" panose="020B0604020202020204" charset="0"/>
                <a:ea typeface="Canva Sans Bold"/>
                <a:cs typeface="Canva Sans Bold"/>
                <a:sym typeface="Canva Sans Bold"/>
              </a:rPr>
              <a:t>AI Models: </a:t>
            </a:r>
            <a:r>
              <a:rPr lang="en-US" sz="2357" dirty="0">
                <a:solidFill>
                  <a:srgbClr val="FFFFFF"/>
                </a:solidFill>
                <a:latin typeface="Canva Sans" panose="020B0604020202020204" charset="0"/>
                <a:ea typeface="Canva Sans Bold"/>
                <a:cs typeface="Canva Sans Bold"/>
                <a:sym typeface="Canva Sans Bold"/>
              </a:rPr>
              <a:t>Provides AI-powered functionalities, such as disease prediction and image analysis.</a:t>
            </a:r>
          </a:p>
          <a:p>
            <a:pPr marL="508959" lvl="1" indent="-254480" algn="l">
              <a:lnSpc>
                <a:spcPts val="4926"/>
              </a:lnSpc>
              <a:buFont typeface="Arial"/>
              <a:buChar char="•"/>
            </a:pPr>
            <a:r>
              <a:rPr lang="en-US" sz="2357" dirty="0">
                <a:solidFill>
                  <a:srgbClr val="FFFFFF"/>
                </a:solidFill>
                <a:latin typeface="Canva Sans" panose="020B0604020202020204" charset="0"/>
                <a:ea typeface="Canva Sans Bold"/>
                <a:cs typeface="Canva Sans Bold"/>
                <a:sym typeface="Canva Sans Bold"/>
              </a:rPr>
              <a:t>Data flows between these layers to enable the application's features.</a:t>
            </a:r>
          </a:p>
          <a:p>
            <a:pPr algn="l">
              <a:lnSpc>
                <a:spcPts val="3991"/>
              </a:lnSpc>
            </a:pPr>
            <a:endParaRPr lang="en-US" sz="2357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563600" y="3539274"/>
            <a:ext cx="4435493" cy="4435493"/>
          </a:xfrm>
          <a:custGeom>
            <a:avLst/>
            <a:gdLst/>
            <a:ahLst/>
            <a:cxnLst/>
            <a:rect l="l" t="t" r="r" b="b"/>
            <a:pathLst>
              <a:path w="4435493" h="4435493">
                <a:moveTo>
                  <a:pt x="0" y="0"/>
                </a:moveTo>
                <a:lnTo>
                  <a:pt x="4435493" y="0"/>
                </a:lnTo>
                <a:lnTo>
                  <a:pt x="4435493" y="4435494"/>
                </a:lnTo>
                <a:lnTo>
                  <a:pt x="0" y="4435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904875"/>
            <a:ext cx="10263125" cy="101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SYSTEM ARCHITECTURE 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2006939"/>
            <a:ext cx="10263125" cy="223923"/>
          </a:xfrm>
          <a:custGeom>
            <a:avLst/>
            <a:gdLst/>
            <a:ahLst/>
            <a:cxnLst/>
            <a:rect l="l" t="t" r="r" b="b"/>
            <a:pathLst>
              <a:path w="10263125" h="223923">
                <a:moveTo>
                  <a:pt x="0" y="0"/>
                </a:moveTo>
                <a:lnTo>
                  <a:pt x="10263125" y="0"/>
                </a:lnTo>
                <a:lnTo>
                  <a:pt x="10263125" y="223923"/>
                </a:lnTo>
                <a:lnTo>
                  <a:pt x="0" y="223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916247"/>
            <a:ext cx="8443935" cy="184231"/>
          </a:xfrm>
          <a:custGeom>
            <a:avLst/>
            <a:gdLst/>
            <a:ahLst/>
            <a:cxnLst/>
            <a:rect l="l" t="t" r="r" b="b"/>
            <a:pathLst>
              <a:path w="8443935" h="184231">
                <a:moveTo>
                  <a:pt x="0" y="0"/>
                </a:moveTo>
                <a:lnTo>
                  <a:pt x="8443935" y="0"/>
                </a:lnTo>
                <a:lnTo>
                  <a:pt x="8443935" y="184231"/>
                </a:lnTo>
                <a:lnTo>
                  <a:pt x="0" y="1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699" y="2364212"/>
            <a:ext cx="16421101" cy="2935010"/>
          </a:xfrm>
          <a:custGeom>
            <a:avLst/>
            <a:gdLst/>
            <a:ahLst/>
            <a:cxnLst/>
            <a:rect l="l" t="t" r="r" b="b"/>
            <a:pathLst>
              <a:path w="12901142" h="2935010">
                <a:moveTo>
                  <a:pt x="0" y="0"/>
                </a:moveTo>
                <a:lnTo>
                  <a:pt x="12901142" y="0"/>
                </a:lnTo>
                <a:lnTo>
                  <a:pt x="12901142" y="2935009"/>
                </a:lnTo>
                <a:lnTo>
                  <a:pt x="0" y="293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904875"/>
            <a:ext cx="8443935" cy="101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USE CASE DIAGRAM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9128" y="5801162"/>
            <a:ext cx="17616632" cy="3545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USE CASE DIAGRAM ILLUSTRATES THE INTERACTIONS BETWEEN ACTORS AND THE SYSTEM: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USER: INTERACTS WITH THE SYSTEM FOR TASKS LIKE LOGIN, SIGNUP, VIEWING BLOG POSTS, PROVIDING REVIEWS, AND USING AI-POWERED TOOLS.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ADMIN: MANAGES USERS, CONTENT, AND SYSTEM SETTINGS.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SYSTEM: PROVIDES AUTOMATED ANALYSIS AND PREDICTIONS.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 USE CASES INCLUDE USER LOGIN, PREDICT DISEASE, ANALYZE IMAGE, MANAGE CONTENT, AND PROVIDE REVIEWS.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94316" y="2781300"/>
            <a:ext cx="14099367" cy="6629400"/>
          </a:xfrm>
          <a:custGeom>
            <a:avLst/>
            <a:gdLst/>
            <a:ahLst/>
            <a:cxnLst/>
            <a:rect l="l" t="t" r="r" b="b"/>
            <a:pathLst>
              <a:path w="9507354" h="6153927">
                <a:moveTo>
                  <a:pt x="0" y="0"/>
                </a:moveTo>
                <a:lnTo>
                  <a:pt x="9507354" y="0"/>
                </a:lnTo>
                <a:lnTo>
                  <a:pt x="9507354" y="6153927"/>
                </a:lnTo>
                <a:lnTo>
                  <a:pt x="0" y="6153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2" b="-69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70437" y="904875"/>
            <a:ext cx="15214930" cy="101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ENTITY RELATIONSHIP (ER) DIAGRAM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1895807"/>
            <a:ext cx="15356667" cy="335055"/>
          </a:xfrm>
          <a:custGeom>
            <a:avLst/>
            <a:gdLst/>
            <a:ahLst/>
            <a:cxnLst/>
            <a:rect l="l" t="t" r="r" b="b"/>
            <a:pathLst>
              <a:path w="15356667" h="335055">
                <a:moveTo>
                  <a:pt x="0" y="0"/>
                </a:moveTo>
                <a:lnTo>
                  <a:pt x="15356667" y="0"/>
                </a:lnTo>
                <a:lnTo>
                  <a:pt x="15356667" y="335055"/>
                </a:lnTo>
                <a:lnTo>
                  <a:pt x="0" y="3350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09609" y="893328"/>
            <a:ext cx="5289807" cy="8689402"/>
          </a:xfrm>
          <a:custGeom>
            <a:avLst/>
            <a:gdLst/>
            <a:ahLst/>
            <a:cxnLst/>
            <a:rect l="l" t="t" r="r" b="b"/>
            <a:pathLst>
              <a:path w="5289807" h="8689402">
                <a:moveTo>
                  <a:pt x="0" y="0"/>
                </a:moveTo>
                <a:lnTo>
                  <a:pt x="5289807" y="0"/>
                </a:lnTo>
                <a:lnTo>
                  <a:pt x="5289807" y="8689403"/>
                </a:lnTo>
                <a:lnTo>
                  <a:pt x="0" y="8689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3937" y="904875"/>
            <a:ext cx="5407894" cy="100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FLOWCHART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059105"/>
            <a:ext cx="8694182" cy="5852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37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1:</a:t>
            </a:r>
            <a:r>
              <a:rPr lang="en-US" sz="23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USER ENTRY</a:t>
            </a:r>
          </a:p>
          <a:p>
            <a:pPr algn="l">
              <a:lnSpc>
                <a:spcPts val="3863"/>
              </a:lnSpc>
            </a:pPr>
            <a:r>
              <a:rPr lang="en-US" sz="23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VISITS THE HEALTHIFY HOMEPAGE</a:t>
            </a:r>
          </a:p>
          <a:p>
            <a:pPr algn="l">
              <a:lnSpc>
                <a:spcPts val="3863"/>
              </a:lnSpc>
            </a:pPr>
            <a:r>
              <a:rPr lang="en-US" sz="23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PROMPTED TO SIGN UP, LOG IN, OR USE GOOGLE LOGIN</a:t>
            </a:r>
          </a:p>
          <a:p>
            <a:pPr algn="l">
              <a:lnSpc>
                <a:spcPts val="3863"/>
              </a:lnSpc>
            </a:pPr>
            <a:r>
              <a:rPr lang="en-US" sz="237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2:</a:t>
            </a:r>
            <a:r>
              <a:rPr lang="en-US" sz="23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AUTHENTICATION</a:t>
            </a:r>
          </a:p>
          <a:p>
            <a:pPr algn="l">
              <a:lnSpc>
                <a:spcPts val="3863"/>
              </a:lnSpc>
            </a:pPr>
            <a:r>
              <a:rPr lang="en-US" sz="23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USER SIGNS UP OR LOGS IN SECURELY</a:t>
            </a:r>
          </a:p>
          <a:p>
            <a:pPr algn="l">
              <a:lnSpc>
                <a:spcPts val="3863"/>
              </a:lnSpc>
            </a:pPr>
            <a:r>
              <a:rPr lang="en-US" sz="23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SUCCESS, REDIRECTED TO DASHBOARD/PROFILE</a:t>
            </a:r>
          </a:p>
          <a:p>
            <a:pPr algn="l">
              <a:lnSpc>
                <a:spcPts val="3863"/>
              </a:lnSpc>
            </a:pPr>
            <a:r>
              <a:rPr lang="en-US" sz="237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3</a:t>
            </a:r>
            <a:r>
              <a:rPr lang="en-US" sz="23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CHOOSE AN ACTION</a:t>
            </a:r>
          </a:p>
          <a:p>
            <a:pPr algn="l">
              <a:lnSpc>
                <a:spcPts val="3863"/>
              </a:lnSpc>
            </a:pPr>
            <a:r>
              <a:rPr lang="en-US" sz="23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SELECTS ONE OF THE FOLLOWING FEATURES:</a:t>
            </a:r>
          </a:p>
          <a:p>
            <a:pPr algn="l">
              <a:lnSpc>
                <a:spcPts val="3863"/>
              </a:lnSpc>
            </a:pPr>
            <a:r>
              <a:rPr lang="en-US" sz="237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A. SYMPTOM-BASED DIAGNOSIS</a:t>
            </a:r>
          </a:p>
          <a:p>
            <a:pPr algn="l">
              <a:lnSpc>
                <a:spcPts val="3863"/>
              </a:lnSpc>
            </a:pPr>
            <a:r>
              <a:rPr lang="en-US" sz="23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ENTERS SYMPTOMS IN TEXT INPUT (PREDICTOR.HTML)</a:t>
            </a:r>
          </a:p>
          <a:p>
            <a:pPr marL="511748" lvl="1" indent="-255874" algn="l">
              <a:lnSpc>
                <a:spcPts val="3863"/>
              </a:lnSpc>
              <a:buFont typeface="Arial"/>
              <a:buChar char="•"/>
            </a:pPr>
            <a:r>
              <a:rPr lang="en-US" sz="23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 AI PREDICTS POSSIBLE DISEASES</a:t>
            </a:r>
          </a:p>
          <a:p>
            <a:pPr algn="l">
              <a:lnSpc>
                <a:spcPts val="3863"/>
              </a:lnSpc>
            </a:pPr>
            <a:endParaRPr lang="en-US" sz="237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28700" y="1909380"/>
            <a:ext cx="5403131" cy="173255"/>
          </a:xfrm>
          <a:custGeom>
            <a:avLst/>
            <a:gdLst/>
            <a:ahLst/>
            <a:cxnLst/>
            <a:rect l="l" t="t" r="r" b="b"/>
            <a:pathLst>
              <a:path w="7940842" h="173255">
                <a:moveTo>
                  <a:pt x="0" y="0"/>
                </a:moveTo>
                <a:lnTo>
                  <a:pt x="7940842" y="0"/>
                </a:lnTo>
                <a:lnTo>
                  <a:pt x="7940842" y="173255"/>
                </a:lnTo>
                <a:lnTo>
                  <a:pt x="0" y="1732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4532" y="893328"/>
            <a:ext cx="10652473" cy="8250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Canva Sans" panose="020B0604020202020204" charset="0"/>
                <a:ea typeface="Times New Roman Bold"/>
                <a:cs typeface="Times New Roman Bold"/>
                <a:sym typeface="Times New Roman Bold"/>
              </a:rPr>
              <a:t>B. PRESCRIPTION SCAN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UPLOADS IMAGE OF PRESCRIPTION (EXTRACT-TEXT.HTML)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OCR EXTRACTS: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MEDICATION NAMES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DOSAGES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INSTRUCTIONS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Canva Sans" panose="020B0604020202020204" charset="0"/>
                <a:ea typeface="Times New Roman Bold"/>
                <a:cs typeface="Times New Roman Bold"/>
                <a:sym typeface="Times New Roman Bold"/>
              </a:rPr>
              <a:t>C. IMAGE INFERENCE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UPLOADS MEDICAL TOOL/REPORT IMAGE (IMAGE-INFERENCE.HTML)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AI INTERPRETS THE IMAGE AND PROVIDES INSIGHTS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Canva Sans" panose="020B0604020202020204" charset="0"/>
                <a:ea typeface="Times New Roman Bold"/>
                <a:cs typeface="Times New Roman Bold"/>
                <a:sym typeface="Times New Roman Bold"/>
              </a:rPr>
              <a:t>STEP 4:</a:t>
            </a: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 OUTPUT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 RESULTS ARE DISPLAYED CLEARLY: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PREDICTED CONDITIONS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EXTRACTED PRESCRIPTION DETAILS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IMAGE ANALYSIS FEEDBACK</a:t>
            </a:r>
          </a:p>
          <a:p>
            <a:pPr marL="604519" lvl="1" indent="-302260" algn="l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Canva Sans" panose="020B0604020202020204" charset="0"/>
                <a:ea typeface="Times New Roman"/>
                <a:cs typeface="Times New Roman"/>
                <a:sym typeface="Times New Roman"/>
              </a:rPr>
              <a:t>OPTIONALLY SHOWN IN USER PROFILE</a:t>
            </a:r>
          </a:p>
        </p:txBody>
      </p:sp>
      <p:sp>
        <p:nvSpPr>
          <p:cNvPr id="3" name="Freeform 3"/>
          <p:cNvSpPr/>
          <p:nvPr/>
        </p:nvSpPr>
        <p:spPr>
          <a:xfrm>
            <a:off x="11709609" y="893328"/>
            <a:ext cx="5289807" cy="8689402"/>
          </a:xfrm>
          <a:custGeom>
            <a:avLst/>
            <a:gdLst/>
            <a:ahLst/>
            <a:cxnLst/>
            <a:rect l="l" t="t" r="r" b="b"/>
            <a:pathLst>
              <a:path w="5289807" h="8689402">
                <a:moveTo>
                  <a:pt x="0" y="0"/>
                </a:moveTo>
                <a:lnTo>
                  <a:pt x="5289807" y="0"/>
                </a:lnTo>
                <a:lnTo>
                  <a:pt x="5289807" y="8689403"/>
                </a:lnTo>
                <a:lnTo>
                  <a:pt x="0" y="8689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926691"/>
            <a:ext cx="16264416" cy="6455434"/>
          </a:xfrm>
          <a:custGeom>
            <a:avLst/>
            <a:gdLst/>
            <a:ahLst/>
            <a:cxnLst/>
            <a:rect l="l" t="t" r="r" b="b"/>
            <a:pathLst>
              <a:path w="13323916" h="7144950">
                <a:moveTo>
                  <a:pt x="0" y="0"/>
                </a:moveTo>
                <a:lnTo>
                  <a:pt x="13323916" y="0"/>
                </a:lnTo>
                <a:lnTo>
                  <a:pt x="13323916" y="7144950"/>
                </a:lnTo>
                <a:lnTo>
                  <a:pt x="0" y="714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904875"/>
            <a:ext cx="12382500" cy="100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SEQUENCE DIAGRAM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1821083"/>
            <a:ext cx="8680847" cy="189400"/>
          </a:xfrm>
          <a:custGeom>
            <a:avLst/>
            <a:gdLst/>
            <a:ahLst/>
            <a:cxnLst/>
            <a:rect l="l" t="t" r="r" b="b"/>
            <a:pathLst>
              <a:path w="8680847" h="189400">
                <a:moveTo>
                  <a:pt x="0" y="0"/>
                </a:moveTo>
                <a:lnTo>
                  <a:pt x="8680847" y="0"/>
                </a:lnTo>
                <a:lnTo>
                  <a:pt x="8680847" y="189400"/>
                </a:lnTo>
                <a:lnTo>
                  <a:pt x="0" y="189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04875"/>
            <a:ext cx="8343900" cy="100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MODULE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516700"/>
            <a:ext cx="16518406" cy="5674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114"/>
              </a:lnSpc>
            </a:pPr>
            <a:r>
              <a:rPr lang="en-US" sz="32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HEALTHIFY IS ORGANIZED INTO SEVERAL KEY MODULES:</a:t>
            </a:r>
          </a:p>
          <a:p>
            <a:pPr algn="just">
              <a:lnSpc>
                <a:spcPts val="5114"/>
              </a:lnSpc>
            </a:pPr>
            <a:endParaRPr lang="en-US" sz="3299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AUTHENTICATION MODULE: MANAGES USER ACCOUNTS, LOGIN, AND SIGNUP.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AI-POWERED PREDICTIVE ANALYSIS MODULE: PROVIDES AI-DRIVEN DISEASE PREDICTION.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IMAGE ANALYSIS &amp; TEXT EXTRACTION MODULE: PROCESSES IMAGES AND EXTRACTS TEXT.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HEALTHCARE BLOG MODULE: ENABLES USERS TO POST AND VIEW HEALTH-RELATED CONTENT.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REVIEW AND RATING SYSTEM MODULE: ALLOWS USERS TO PROVIDE FEEDBACK.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ADMIN DASHBOARD MODULE: PROVIDES ADMINISTRATIVE CONTROL OVER THE SYSTEM.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EACH MODULE CONTRIBUTES TO THE OVERALL FUNCTIONALITY OF THE PLATFORM.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2053086"/>
            <a:ext cx="8148042" cy="177775"/>
          </a:xfrm>
          <a:custGeom>
            <a:avLst/>
            <a:gdLst/>
            <a:ahLst/>
            <a:cxnLst/>
            <a:rect l="l" t="t" r="r" b="b"/>
            <a:pathLst>
              <a:path w="8148042" h="177775">
                <a:moveTo>
                  <a:pt x="0" y="0"/>
                </a:moveTo>
                <a:lnTo>
                  <a:pt x="8148042" y="0"/>
                </a:lnTo>
                <a:lnTo>
                  <a:pt x="8148042" y="177776"/>
                </a:lnTo>
                <a:lnTo>
                  <a:pt x="0" y="1777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04875"/>
            <a:ext cx="14255305" cy="100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USER AUTHENTICATION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516700"/>
            <a:ext cx="16230600" cy="5617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14"/>
              </a:lnSpc>
            </a:pPr>
            <a:r>
              <a:rPr lang="en-US" sz="32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 INCLUDE:</a:t>
            </a:r>
          </a:p>
          <a:p>
            <a:pPr algn="just">
              <a:lnSpc>
                <a:spcPts val="5114"/>
              </a:lnSpc>
            </a:pPr>
            <a:endParaRPr lang="en-US" sz="3299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AND SIGNUP</a:t>
            </a: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USERS CAN CREATE ACCOUNTS AND LOG IN SECURELY.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PROFILE MANAGEMENT:</a:t>
            </a: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USERS CAN MANAGE THEIR PROFILES AND UPDATE THEIR INFORMATION.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DATA IS SECURELY STORED AND MANAGED USING APPWRITE, A BACKEND-AS-A-SERVICE.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INDEX.JS FILE HANDLES THE CLIENT-SIDE LOGIC FOR USER AUTHENTICATION, INTERACTING WITH THE APPWRITE API.</a:t>
            </a:r>
          </a:p>
          <a:p>
            <a:pPr algn="just">
              <a:lnSpc>
                <a:spcPts val="4339"/>
              </a:lnSpc>
            </a:pPr>
            <a:endParaRPr lang="en-US" sz="27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28700" y="1909380"/>
            <a:ext cx="14255305" cy="311025"/>
          </a:xfrm>
          <a:custGeom>
            <a:avLst/>
            <a:gdLst/>
            <a:ahLst/>
            <a:cxnLst/>
            <a:rect l="l" t="t" r="r" b="b"/>
            <a:pathLst>
              <a:path w="14255305" h="311025">
                <a:moveTo>
                  <a:pt x="0" y="0"/>
                </a:moveTo>
                <a:lnTo>
                  <a:pt x="14255305" y="0"/>
                </a:lnTo>
                <a:lnTo>
                  <a:pt x="14255305" y="311025"/>
                </a:lnTo>
                <a:lnTo>
                  <a:pt x="0" y="311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525374"/>
            <a:ext cx="16230600" cy="480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675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SYSTEM USES AI, SPECIFICALLY TENSOR FLOW, TO MAKE PREDICTIONS ABOUT POTENTIAL HEALTH RISKS OR OUTCOMES.</a:t>
            </a:r>
          </a:p>
          <a:p>
            <a:pPr algn="just">
              <a:lnSpc>
                <a:spcPts val="4675"/>
              </a:lnSpc>
            </a:pPr>
            <a:endParaRPr lang="en-US" sz="27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009"/>
              </a:lnSpc>
            </a:pPr>
            <a:r>
              <a:rPr lang="en-US" sz="29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TYPES OF PREDICTIONS OFFERED MAY INCLUDE:</a:t>
            </a:r>
          </a:p>
          <a:p>
            <a:pPr marL="604519" lvl="1" indent="-302260" algn="just">
              <a:lnSpc>
                <a:spcPts val="4675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DISEASE RISK ASSESSMENT BASED ON USER-PROVIDED DATA.</a:t>
            </a:r>
          </a:p>
          <a:p>
            <a:pPr marL="604519" lvl="1" indent="-302260" algn="just">
              <a:lnSpc>
                <a:spcPts val="4675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PREDICTION OF POTENTIAL HEALTH OUTCOMES BASED ON ANALYZED INFORMATION.</a:t>
            </a:r>
          </a:p>
          <a:p>
            <a:pPr marL="604519" lvl="1" indent="-302260" algn="just">
              <a:lnSpc>
                <a:spcPts val="4675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SPECIFIC AI MODELS AND ALGORITHMS USED ARE IMPLEMENTED USING LIBRARIES LIKE TENSOR FLOW.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909380"/>
            <a:ext cx="14734580" cy="321482"/>
          </a:xfrm>
          <a:custGeom>
            <a:avLst/>
            <a:gdLst/>
            <a:ahLst/>
            <a:cxnLst/>
            <a:rect l="l" t="t" r="r" b="b"/>
            <a:pathLst>
              <a:path w="14734580" h="321482">
                <a:moveTo>
                  <a:pt x="0" y="0"/>
                </a:moveTo>
                <a:lnTo>
                  <a:pt x="14734580" y="0"/>
                </a:lnTo>
                <a:lnTo>
                  <a:pt x="14734580" y="321482"/>
                </a:lnTo>
                <a:lnTo>
                  <a:pt x="0" y="321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904875"/>
            <a:ext cx="14897100" cy="100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AI-POWERED PREDICTIVE ANALYSIS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04875"/>
            <a:ext cx="15718870" cy="100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IMAGE ANALYSIS &amp; TEXT EXTRACTION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887904"/>
            <a:ext cx="15718870" cy="342957"/>
          </a:xfrm>
          <a:custGeom>
            <a:avLst/>
            <a:gdLst/>
            <a:ahLst/>
            <a:cxnLst/>
            <a:rect l="l" t="t" r="r" b="b"/>
            <a:pathLst>
              <a:path w="15718870" h="342957">
                <a:moveTo>
                  <a:pt x="0" y="0"/>
                </a:moveTo>
                <a:lnTo>
                  <a:pt x="15718870" y="0"/>
                </a:lnTo>
                <a:lnTo>
                  <a:pt x="15718870" y="342958"/>
                </a:lnTo>
                <a:lnTo>
                  <a:pt x="0" y="342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3727206"/>
            <a:ext cx="16230600" cy="4981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SYSTEM PROCESSES UPLOADED IMAGES, SUCH AS PRESCRIPTIONS OR MEDICAL REPORTS, TO EXTRACT RELEVANT INFORMATION.</a:t>
            </a:r>
          </a:p>
          <a:p>
            <a:pPr algn="just">
              <a:lnSpc>
                <a:spcPts val="4339"/>
              </a:lnSpc>
            </a:pPr>
            <a:endParaRPr lang="en-US" sz="27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804"/>
              </a:lnSpc>
            </a:pPr>
            <a:r>
              <a:rPr lang="en-US" sz="30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PROCESS INVOLVES: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SING OPENCV FOR IMAGE PROCESSING TASKS LIKE ENHANCING IMAGE QUALITY.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EMPLOYING TESSERACT FOR OPTICAL CHARACTER RECOGNITION (OCR) TO EXTRACT TEXT FROM THE IMAGES.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EXTRACTED TEXT CAN THEN BE USED FOR FURTHER ANALYSIS OR INTEGRATION INTO THE PATIENT'S DIGITAL RECORD.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052439"/>
            <a:ext cx="8177689" cy="178422"/>
          </a:xfrm>
          <a:custGeom>
            <a:avLst/>
            <a:gdLst/>
            <a:ahLst/>
            <a:cxnLst/>
            <a:rect l="l" t="t" r="r" b="b"/>
            <a:pathLst>
              <a:path w="8177689" h="178422">
                <a:moveTo>
                  <a:pt x="0" y="0"/>
                </a:moveTo>
                <a:lnTo>
                  <a:pt x="8177689" y="0"/>
                </a:lnTo>
                <a:lnTo>
                  <a:pt x="8177689" y="178423"/>
                </a:lnTo>
                <a:lnTo>
                  <a:pt x="0" y="178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3883110"/>
            <a:ext cx="10123303" cy="377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PLATFORM INCLUDES A HEALTHCARE BLOG WHERE USERS OR ADMINISTRATORS CAN POST HEALTH-RELATED CONTENT.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MODULE ALLOWS FOR SHARING INFORMATION, NEWS, AND UPDATES RELATED TO HEALTHCARE.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BLOGS.HTML FILE PROVIDES THE STRUCTURE FOR THE BLOG SECTION.</a:t>
            </a:r>
          </a:p>
        </p:txBody>
      </p:sp>
      <p:sp>
        <p:nvSpPr>
          <p:cNvPr id="4" name="Freeform 4"/>
          <p:cNvSpPr/>
          <p:nvPr/>
        </p:nvSpPr>
        <p:spPr>
          <a:xfrm>
            <a:off x="12176461" y="2792812"/>
            <a:ext cx="4851327" cy="4701377"/>
          </a:xfrm>
          <a:custGeom>
            <a:avLst/>
            <a:gdLst/>
            <a:ahLst/>
            <a:cxnLst/>
            <a:rect l="l" t="t" r="r" b="b"/>
            <a:pathLst>
              <a:path w="4851327" h="4701377">
                <a:moveTo>
                  <a:pt x="0" y="0"/>
                </a:moveTo>
                <a:lnTo>
                  <a:pt x="4851327" y="0"/>
                </a:lnTo>
                <a:lnTo>
                  <a:pt x="4851327" y="4701376"/>
                </a:lnTo>
                <a:lnTo>
                  <a:pt x="0" y="4701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904875"/>
            <a:ext cx="8343900" cy="100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HEALTHCARE BLOG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963794"/>
            <a:ext cx="12240577" cy="267067"/>
          </a:xfrm>
          <a:custGeom>
            <a:avLst/>
            <a:gdLst/>
            <a:ahLst/>
            <a:cxnLst/>
            <a:rect l="l" t="t" r="r" b="b"/>
            <a:pathLst>
              <a:path w="12240577" h="267067">
                <a:moveTo>
                  <a:pt x="0" y="0"/>
                </a:moveTo>
                <a:lnTo>
                  <a:pt x="12240577" y="0"/>
                </a:lnTo>
                <a:lnTo>
                  <a:pt x="12240577" y="267068"/>
                </a:lnTo>
                <a:lnTo>
                  <a:pt x="0" y="26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2884616" y="3448642"/>
            <a:ext cx="4374684" cy="4374684"/>
          </a:xfrm>
          <a:custGeom>
            <a:avLst/>
            <a:gdLst/>
            <a:ahLst/>
            <a:cxnLst/>
            <a:rect l="l" t="t" r="r" b="b"/>
            <a:pathLst>
              <a:path w="4374684" h="4374684">
                <a:moveTo>
                  <a:pt x="0" y="0"/>
                </a:moveTo>
                <a:lnTo>
                  <a:pt x="4374684" y="0"/>
                </a:lnTo>
                <a:lnTo>
                  <a:pt x="4374684" y="4374684"/>
                </a:lnTo>
                <a:lnTo>
                  <a:pt x="0" y="437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4052061"/>
            <a:ext cx="10464702" cy="377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USERS CAN PROVIDE FEEDBACK ON SERVICES, BLOG POSTS, OR OTHER ASPECTS OF THE PLATFORM.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SYSTEM INCLUDES A RATING MECHANISM (E.G., STAR RATING) TO QUANTIFY USER FEEDBACK.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FEATURE HELPS TO IMPROVE THE PLATFORM BY GATHERING USER OPINIONS AND IDENTIFYING AREAS FOR IMPROVEMENT.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04875"/>
            <a:ext cx="12382500" cy="100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REVIEW AND RATING SYSTEM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937156"/>
            <a:ext cx="5060886" cy="293707"/>
          </a:xfrm>
          <a:custGeom>
            <a:avLst/>
            <a:gdLst/>
            <a:ahLst/>
            <a:cxnLst/>
            <a:rect l="l" t="t" r="r" b="b"/>
            <a:pathLst>
              <a:path w="7940842" h="173255">
                <a:moveTo>
                  <a:pt x="0" y="0"/>
                </a:moveTo>
                <a:lnTo>
                  <a:pt x="7940842" y="0"/>
                </a:lnTo>
                <a:lnTo>
                  <a:pt x="7940842" y="173255"/>
                </a:lnTo>
                <a:lnTo>
                  <a:pt x="0" y="17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2815260"/>
            <a:ext cx="13318945" cy="6443040"/>
          </a:xfrm>
          <a:custGeom>
            <a:avLst/>
            <a:gdLst/>
            <a:ahLst/>
            <a:cxnLst/>
            <a:rect l="l" t="t" r="r" b="b"/>
            <a:pathLst>
              <a:path w="13318945" h="6443040">
                <a:moveTo>
                  <a:pt x="0" y="0"/>
                </a:moveTo>
                <a:lnTo>
                  <a:pt x="13318945" y="0"/>
                </a:lnTo>
                <a:lnTo>
                  <a:pt x="13318945" y="6443040"/>
                </a:lnTo>
                <a:lnTo>
                  <a:pt x="0" y="6443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932651"/>
            <a:ext cx="5060886" cy="100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HOME PAGE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814353"/>
            <a:ext cx="13438782" cy="6249034"/>
          </a:xfrm>
          <a:custGeom>
            <a:avLst/>
            <a:gdLst/>
            <a:ahLst/>
            <a:cxnLst/>
            <a:rect l="l" t="t" r="r" b="b"/>
            <a:pathLst>
              <a:path w="13438782" h="6249034">
                <a:moveTo>
                  <a:pt x="0" y="0"/>
                </a:moveTo>
                <a:lnTo>
                  <a:pt x="13438782" y="0"/>
                </a:lnTo>
                <a:lnTo>
                  <a:pt x="13438782" y="6249034"/>
                </a:lnTo>
                <a:lnTo>
                  <a:pt x="0" y="6249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2">
            <a:extLst>
              <a:ext uri="{FF2B5EF4-FFF2-40B4-BE49-F238E27FC236}">
                <a16:creationId xmlns:a16="http://schemas.microsoft.com/office/drawing/2014/main" id="{A3AF723C-3D7C-5235-9D25-EABDFFA48A32}"/>
              </a:ext>
            </a:extLst>
          </p:cNvPr>
          <p:cNvSpPr/>
          <p:nvPr/>
        </p:nvSpPr>
        <p:spPr>
          <a:xfrm>
            <a:off x="1028700" y="1937156"/>
            <a:ext cx="5060886" cy="293707"/>
          </a:xfrm>
          <a:custGeom>
            <a:avLst/>
            <a:gdLst/>
            <a:ahLst/>
            <a:cxnLst/>
            <a:rect l="l" t="t" r="r" b="b"/>
            <a:pathLst>
              <a:path w="7940842" h="173255">
                <a:moveTo>
                  <a:pt x="0" y="0"/>
                </a:moveTo>
                <a:lnTo>
                  <a:pt x="7940842" y="0"/>
                </a:lnTo>
                <a:lnTo>
                  <a:pt x="7940842" y="173255"/>
                </a:lnTo>
                <a:lnTo>
                  <a:pt x="0" y="1732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64093CC1-BC87-E782-83AB-6275ACB30C22}"/>
              </a:ext>
            </a:extLst>
          </p:cNvPr>
          <p:cNvSpPr txBox="1"/>
          <p:nvPr/>
        </p:nvSpPr>
        <p:spPr>
          <a:xfrm>
            <a:off x="1028700" y="932651"/>
            <a:ext cx="5060886" cy="100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HOME PAGE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28700" y="2619167"/>
            <a:ext cx="12636031" cy="6639133"/>
          </a:xfrm>
          <a:custGeom>
            <a:avLst/>
            <a:gdLst/>
            <a:ahLst/>
            <a:cxnLst/>
            <a:rect l="l" t="t" r="r" b="b"/>
            <a:pathLst>
              <a:path w="12636031" h="6639133">
                <a:moveTo>
                  <a:pt x="0" y="0"/>
                </a:moveTo>
                <a:lnTo>
                  <a:pt x="12636031" y="0"/>
                </a:lnTo>
                <a:lnTo>
                  <a:pt x="12636031" y="6639133"/>
                </a:lnTo>
                <a:lnTo>
                  <a:pt x="0" y="6639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2">
            <a:extLst>
              <a:ext uri="{FF2B5EF4-FFF2-40B4-BE49-F238E27FC236}">
                <a16:creationId xmlns:a16="http://schemas.microsoft.com/office/drawing/2014/main" id="{B237264F-FC54-C336-A07C-7E61F05EC8B9}"/>
              </a:ext>
            </a:extLst>
          </p:cNvPr>
          <p:cNvSpPr/>
          <p:nvPr/>
        </p:nvSpPr>
        <p:spPr>
          <a:xfrm>
            <a:off x="1028700" y="1937156"/>
            <a:ext cx="5060886" cy="293707"/>
          </a:xfrm>
          <a:custGeom>
            <a:avLst/>
            <a:gdLst/>
            <a:ahLst/>
            <a:cxnLst/>
            <a:rect l="l" t="t" r="r" b="b"/>
            <a:pathLst>
              <a:path w="7940842" h="173255">
                <a:moveTo>
                  <a:pt x="0" y="0"/>
                </a:moveTo>
                <a:lnTo>
                  <a:pt x="7940842" y="0"/>
                </a:lnTo>
                <a:lnTo>
                  <a:pt x="7940842" y="173255"/>
                </a:lnTo>
                <a:lnTo>
                  <a:pt x="0" y="1732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D8682BFA-8C15-F969-71C7-E71A2D68473A}"/>
              </a:ext>
            </a:extLst>
          </p:cNvPr>
          <p:cNvSpPr txBox="1"/>
          <p:nvPr/>
        </p:nvSpPr>
        <p:spPr>
          <a:xfrm>
            <a:off x="1028700" y="932651"/>
            <a:ext cx="5060886" cy="100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HOME PAGE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055829"/>
            <a:ext cx="8022312" cy="175032"/>
          </a:xfrm>
          <a:custGeom>
            <a:avLst/>
            <a:gdLst/>
            <a:ahLst/>
            <a:cxnLst/>
            <a:rect l="l" t="t" r="r" b="b"/>
            <a:pathLst>
              <a:path w="8022312" h="175032">
                <a:moveTo>
                  <a:pt x="0" y="0"/>
                </a:moveTo>
                <a:lnTo>
                  <a:pt x="8022312" y="0"/>
                </a:lnTo>
                <a:lnTo>
                  <a:pt x="8022312" y="175033"/>
                </a:lnTo>
                <a:lnTo>
                  <a:pt x="0" y="17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2605388"/>
            <a:ext cx="8022312" cy="3910877"/>
          </a:xfrm>
          <a:custGeom>
            <a:avLst/>
            <a:gdLst/>
            <a:ahLst/>
            <a:cxnLst/>
            <a:rect l="l" t="t" r="r" b="b"/>
            <a:pathLst>
              <a:path w="8022312" h="3910877">
                <a:moveTo>
                  <a:pt x="0" y="0"/>
                </a:moveTo>
                <a:lnTo>
                  <a:pt x="8022312" y="0"/>
                </a:lnTo>
                <a:lnTo>
                  <a:pt x="8022312" y="3910877"/>
                </a:lnTo>
                <a:lnTo>
                  <a:pt x="0" y="3910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9298227" y="5347423"/>
            <a:ext cx="7961073" cy="3910877"/>
          </a:xfrm>
          <a:custGeom>
            <a:avLst/>
            <a:gdLst/>
            <a:ahLst/>
            <a:cxnLst/>
            <a:rect l="l" t="t" r="r" b="b"/>
            <a:pathLst>
              <a:path w="7961073" h="3910877">
                <a:moveTo>
                  <a:pt x="0" y="0"/>
                </a:moveTo>
                <a:lnTo>
                  <a:pt x="7961073" y="0"/>
                </a:lnTo>
                <a:lnTo>
                  <a:pt x="7961073" y="3910877"/>
                </a:lnTo>
                <a:lnTo>
                  <a:pt x="0" y="39108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-8100000">
            <a:off x="9484893" y="3337010"/>
            <a:ext cx="2081989" cy="2089588"/>
          </a:xfrm>
          <a:custGeom>
            <a:avLst/>
            <a:gdLst/>
            <a:ahLst/>
            <a:cxnLst/>
            <a:rect l="l" t="t" r="r" b="b"/>
            <a:pathLst>
              <a:path w="2081989" h="2089588">
                <a:moveTo>
                  <a:pt x="0" y="0"/>
                </a:moveTo>
                <a:lnTo>
                  <a:pt x="2081989" y="0"/>
                </a:lnTo>
                <a:lnTo>
                  <a:pt x="2081989" y="2089588"/>
                </a:lnTo>
                <a:lnTo>
                  <a:pt x="0" y="2089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28700" y="904875"/>
            <a:ext cx="8022312" cy="100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LOGIN AND SIGN IN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00763" y="4079497"/>
            <a:ext cx="22418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PAGE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7271" y="7122749"/>
            <a:ext cx="2562198" cy="481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SIGNIN PAGE</a:t>
            </a:r>
          </a:p>
        </p:txBody>
      </p:sp>
      <p:sp>
        <p:nvSpPr>
          <p:cNvPr id="9" name="Freeform 9"/>
          <p:cNvSpPr/>
          <p:nvPr/>
        </p:nvSpPr>
        <p:spPr>
          <a:xfrm rot="2789002">
            <a:off x="6468911" y="6339791"/>
            <a:ext cx="2341775" cy="2350321"/>
          </a:xfrm>
          <a:custGeom>
            <a:avLst/>
            <a:gdLst/>
            <a:ahLst/>
            <a:cxnLst/>
            <a:rect l="l" t="t" r="r" b="b"/>
            <a:pathLst>
              <a:path w="2341775" h="2350321">
                <a:moveTo>
                  <a:pt x="0" y="0"/>
                </a:moveTo>
                <a:lnTo>
                  <a:pt x="2341775" y="0"/>
                </a:lnTo>
                <a:lnTo>
                  <a:pt x="2341775" y="2350321"/>
                </a:lnTo>
                <a:lnTo>
                  <a:pt x="0" y="2350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042430"/>
            <a:ext cx="8636437" cy="188431"/>
          </a:xfrm>
          <a:custGeom>
            <a:avLst/>
            <a:gdLst/>
            <a:ahLst/>
            <a:cxnLst/>
            <a:rect l="l" t="t" r="r" b="b"/>
            <a:pathLst>
              <a:path w="8636437" h="188431">
                <a:moveTo>
                  <a:pt x="0" y="0"/>
                </a:moveTo>
                <a:lnTo>
                  <a:pt x="8636437" y="0"/>
                </a:lnTo>
                <a:lnTo>
                  <a:pt x="8636437" y="188432"/>
                </a:lnTo>
                <a:lnTo>
                  <a:pt x="0" y="188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2808629"/>
            <a:ext cx="7889506" cy="2603537"/>
          </a:xfrm>
          <a:custGeom>
            <a:avLst/>
            <a:gdLst/>
            <a:ahLst/>
            <a:cxnLst/>
            <a:rect l="l" t="t" r="r" b="b"/>
            <a:pathLst>
              <a:path w="7889506" h="2603537">
                <a:moveTo>
                  <a:pt x="0" y="0"/>
                </a:moveTo>
                <a:lnTo>
                  <a:pt x="7889506" y="0"/>
                </a:lnTo>
                <a:lnTo>
                  <a:pt x="7889506" y="2603537"/>
                </a:lnTo>
                <a:lnTo>
                  <a:pt x="0" y="2603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28700" y="5412166"/>
            <a:ext cx="7889506" cy="3846134"/>
          </a:xfrm>
          <a:custGeom>
            <a:avLst/>
            <a:gdLst/>
            <a:ahLst/>
            <a:cxnLst/>
            <a:rect l="l" t="t" r="r" b="b"/>
            <a:pathLst>
              <a:path w="7889506" h="3846134">
                <a:moveTo>
                  <a:pt x="0" y="0"/>
                </a:moveTo>
                <a:lnTo>
                  <a:pt x="7889506" y="0"/>
                </a:lnTo>
                <a:lnTo>
                  <a:pt x="7889506" y="3846134"/>
                </a:lnTo>
                <a:lnTo>
                  <a:pt x="0" y="38461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0877520" y="2808629"/>
            <a:ext cx="6381780" cy="6449671"/>
          </a:xfrm>
          <a:custGeom>
            <a:avLst/>
            <a:gdLst/>
            <a:ahLst/>
            <a:cxnLst/>
            <a:rect l="l" t="t" r="r" b="b"/>
            <a:pathLst>
              <a:path w="6381780" h="6449671">
                <a:moveTo>
                  <a:pt x="0" y="0"/>
                </a:moveTo>
                <a:lnTo>
                  <a:pt x="6381780" y="0"/>
                </a:lnTo>
                <a:lnTo>
                  <a:pt x="6381780" y="6449671"/>
                </a:lnTo>
                <a:lnTo>
                  <a:pt x="0" y="644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805125">
            <a:off x="6151408" y="6530229"/>
            <a:ext cx="4709917" cy="693642"/>
          </a:xfrm>
          <a:custGeom>
            <a:avLst/>
            <a:gdLst/>
            <a:ahLst/>
            <a:cxnLst/>
            <a:rect l="l" t="t" r="r" b="b"/>
            <a:pathLst>
              <a:path w="4709917" h="693642">
                <a:moveTo>
                  <a:pt x="0" y="0"/>
                </a:moveTo>
                <a:lnTo>
                  <a:pt x="4709917" y="0"/>
                </a:lnTo>
                <a:lnTo>
                  <a:pt x="4709917" y="693642"/>
                </a:lnTo>
                <a:lnTo>
                  <a:pt x="0" y="693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904875"/>
            <a:ext cx="8724900" cy="100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PRESCRIPTION PAGE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042752"/>
            <a:ext cx="8621673" cy="188109"/>
          </a:xfrm>
          <a:custGeom>
            <a:avLst/>
            <a:gdLst/>
            <a:ahLst/>
            <a:cxnLst/>
            <a:rect l="l" t="t" r="r" b="b"/>
            <a:pathLst>
              <a:path w="8621673" h="188109">
                <a:moveTo>
                  <a:pt x="0" y="0"/>
                </a:moveTo>
                <a:lnTo>
                  <a:pt x="8621673" y="0"/>
                </a:lnTo>
                <a:lnTo>
                  <a:pt x="8621673" y="188110"/>
                </a:lnTo>
                <a:lnTo>
                  <a:pt x="0" y="18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2775430"/>
            <a:ext cx="8115300" cy="3511070"/>
          </a:xfrm>
          <a:custGeom>
            <a:avLst/>
            <a:gdLst/>
            <a:ahLst/>
            <a:cxnLst/>
            <a:rect l="l" t="t" r="r" b="b"/>
            <a:pathLst>
              <a:path w="8115300" h="3276552">
                <a:moveTo>
                  <a:pt x="0" y="0"/>
                </a:moveTo>
                <a:lnTo>
                  <a:pt x="8115300" y="0"/>
                </a:lnTo>
                <a:lnTo>
                  <a:pt x="8115300" y="3276553"/>
                </a:lnTo>
                <a:lnTo>
                  <a:pt x="0" y="3276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9359903" y="5378068"/>
            <a:ext cx="7899397" cy="3880232"/>
          </a:xfrm>
          <a:custGeom>
            <a:avLst/>
            <a:gdLst/>
            <a:ahLst/>
            <a:cxnLst/>
            <a:rect l="l" t="t" r="r" b="b"/>
            <a:pathLst>
              <a:path w="7899397" h="3880232">
                <a:moveTo>
                  <a:pt x="0" y="0"/>
                </a:moveTo>
                <a:lnTo>
                  <a:pt x="7899397" y="0"/>
                </a:lnTo>
                <a:lnTo>
                  <a:pt x="7899397" y="3880232"/>
                </a:lnTo>
                <a:lnTo>
                  <a:pt x="0" y="3880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904875"/>
            <a:ext cx="8801100" cy="100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DISEASE PREDICTOR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93751" y="3767845"/>
            <a:ext cx="4289249" cy="481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DISEASE PREDICTOR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72001" y="7048944"/>
            <a:ext cx="1838152" cy="481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</a:t>
            </a:r>
          </a:p>
        </p:txBody>
      </p:sp>
      <p:sp>
        <p:nvSpPr>
          <p:cNvPr id="8" name="Freeform 8"/>
          <p:cNvSpPr/>
          <p:nvPr/>
        </p:nvSpPr>
        <p:spPr>
          <a:xfrm rot="-8100000">
            <a:off x="9577881" y="2992291"/>
            <a:ext cx="2081989" cy="2089588"/>
          </a:xfrm>
          <a:custGeom>
            <a:avLst/>
            <a:gdLst/>
            <a:ahLst/>
            <a:cxnLst/>
            <a:rect l="l" t="t" r="r" b="b"/>
            <a:pathLst>
              <a:path w="2081989" h="2089588">
                <a:moveTo>
                  <a:pt x="0" y="0"/>
                </a:moveTo>
                <a:lnTo>
                  <a:pt x="2081989" y="0"/>
                </a:lnTo>
                <a:lnTo>
                  <a:pt x="2081989" y="2089588"/>
                </a:lnTo>
                <a:lnTo>
                  <a:pt x="0" y="2089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2700000">
            <a:off x="6844032" y="6273390"/>
            <a:ext cx="2081989" cy="2089588"/>
          </a:xfrm>
          <a:custGeom>
            <a:avLst/>
            <a:gdLst/>
            <a:ahLst/>
            <a:cxnLst/>
            <a:rect l="l" t="t" r="r" b="b"/>
            <a:pathLst>
              <a:path w="2081989" h="2089588">
                <a:moveTo>
                  <a:pt x="0" y="0"/>
                </a:moveTo>
                <a:lnTo>
                  <a:pt x="2081990" y="0"/>
                </a:lnTo>
                <a:lnTo>
                  <a:pt x="2081990" y="2089588"/>
                </a:lnTo>
                <a:lnTo>
                  <a:pt x="0" y="2089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880047"/>
            <a:ext cx="16079001" cy="350815"/>
          </a:xfrm>
          <a:custGeom>
            <a:avLst/>
            <a:gdLst/>
            <a:ahLst/>
            <a:cxnLst/>
            <a:rect l="l" t="t" r="r" b="b"/>
            <a:pathLst>
              <a:path w="16079001" h="350815">
                <a:moveTo>
                  <a:pt x="0" y="0"/>
                </a:moveTo>
                <a:lnTo>
                  <a:pt x="16079001" y="0"/>
                </a:lnTo>
                <a:lnTo>
                  <a:pt x="16079001" y="350815"/>
                </a:lnTo>
                <a:lnTo>
                  <a:pt x="0" y="350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3418406"/>
            <a:ext cx="7734300" cy="3610982"/>
          </a:xfrm>
          <a:custGeom>
            <a:avLst/>
            <a:gdLst/>
            <a:ahLst/>
            <a:cxnLst/>
            <a:rect l="l" t="t" r="r" b="b"/>
            <a:pathLst>
              <a:path w="7709916" h="3450187">
                <a:moveTo>
                  <a:pt x="0" y="0"/>
                </a:moveTo>
                <a:lnTo>
                  <a:pt x="7709916" y="0"/>
                </a:lnTo>
                <a:lnTo>
                  <a:pt x="7709916" y="3450188"/>
                </a:lnTo>
                <a:lnTo>
                  <a:pt x="0" y="3450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9908701" y="3338009"/>
            <a:ext cx="7350599" cy="3610982"/>
          </a:xfrm>
          <a:custGeom>
            <a:avLst/>
            <a:gdLst/>
            <a:ahLst/>
            <a:cxnLst/>
            <a:rect l="l" t="t" r="r" b="b"/>
            <a:pathLst>
              <a:path w="7350599" h="3610982">
                <a:moveTo>
                  <a:pt x="0" y="0"/>
                </a:moveTo>
                <a:lnTo>
                  <a:pt x="7350599" y="0"/>
                </a:lnTo>
                <a:lnTo>
                  <a:pt x="7350599" y="3610982"/>
                </a:lnTo>
                <a:lnTo>
                  <a:pt x="0" y="36109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923925"/>
            <a:ext cx="16079001" cy="879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8"/>
              </a:lnSpc>
              <a:spcBef>
                <a:spcPct val="0"/>
              </a:spcBef>
            </a:pPr>
            <a:r>
              <a:rPr lang="en-US" sz="51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BLOG AND REVIEW SYSTEM SCREENSHOTS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38726" y="8002069"/>
            <a:ext cx="3138274" cy="587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BLOG PAGE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73000" y="7992545"/>
            <a:ext cx="3443959" cy="596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REVIEW PAGE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49241"/>
            <a:ext cx="9487614" cy="100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TESTING &amp; VALIDATION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2023859"/>
            <a:ext cx="9487614" cy="207002"/>
          </a:xfrm>
          <a:custGeom>
            <a:avLst/>
            <a:gdLst/>
            <a:ahLst/>
            <a:cxnLst/>
            <a:rect l="l" t="t" r="r" b="b"/>
            <a:pathLst>
              <a:path w="9487614" h="207002">
                <a:moveTo>
                  <a:pt x="0" y="0"/>
                </a:moveTo>
                <a:lnTo>
                  <a:pt x="9487614" y="0"/>
                </a:lnTo>
                <a:lnTo>
                  <a:pt x="9487614" y="207003"/>
                </a:lnTo>
                <a:lnTo>
                  <a:pt x="0" y="207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3575606"/>
            <a:ext cx="15992356" cy="485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APPLICATION HAS UNDERGONE TESTING AND VALIDATION TO ENSURE ITS ACCURACY, RELIABILITY, AND SECURITY.</a:t>
            </a:r>
          </a:p>
          <a:p>
            <a:pPr algn="just">
              <a:lnSpc>
                <a:spcPts val="4339"/>
              </a:lnSpc>
            </a:pPr>
            <a:endParaRPr lang="en-US" sz="27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339"/>
              </a:lnSpc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 METHODS USED INCLUDE:</a:t>
            </a:r>
          </a:p>
          <a:p>
            <a:pPr algn="just">
              <a:lnSpc>
                <a:spcPts val="4339"/>
              </a:lnSpc>
            </a:pPr>
            <a:endParaRPr lang="en-US" sz="27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UNIT TESTING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TO VERIFY INDIVIDUAL COMPONENTS AND FUNCTIONS.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INTEGRATION TESTING: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TO TEST THE INTERACTION BETWEEN DIFFERENT MODULES.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TESTING PROCESS ENSURES THAT THE APPLICATION MEETS THE REQUIRED STANDARDS AND PERFORMS AS EXPECTED.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03293" y="904875"/>
            <a:ext cx="16156007" cy="100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 dirty="0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SECURITY MEASURES &amp; CHALLENGES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876739"/>
            <a:ext cx="16230600" cy="354122"/>
          </a:xfrm>
          <a:custGeom>
            <a:avLst/>
            <a:gdLst/>
            <a:ahLst/>
            <a:cxnLst/>
            <a:rect l="l" t="t" r="r" b="b"/>
            <a:pathLst>
              <a:path w="16230600" h="354122">
                <a:moveTo>
                  <a:pt x="0" y="0"/>
                </a:moveTo>
                <a:lnTo>
                  <a:pt x="16230600" y="0"/>
                </a:lnTo>
                <a:lnTo>
                  <a:pt x="16230600" y="354123"/>
                </a:lnTo>
                <a:lnTo>
                  <a:pt x="0" y="354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103293" y="2276185"/>
            <a:ext cx="15941664" cy="7724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SECURITY IS A CRITICAL CONSIDERATION FOR A HEALTHCARE APPLICATION. </a:t>
            </a:r>
          </a:p>
          <a:p>
            <a:pPr algn="just">
              <a:lnSpc>
                <a:spcPts val="4339"/>
              </a:lnSpc>
            </a:pPr>
            <a:endParaRPr lang="en-US" sz="27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649"/>
              </a:lnSpc>
            </a:pPr>
            <a:r>
              <a:rPr lang="en-US" sz="2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MEASURES IMPLEMENTED INCLUDE:</a:t>
            </a:r>
          </a:p>
          <a:p>
            <a:pPr algn="just">
              <a:lnSpc>
                <a:spcPts val="4649"/>
              </a:lnSpc>
            </a:pPr>
            <a:endParaRPr lang="en-US" sz="29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JWT (JSON WEB TOKEN) AUTHENTICATION FOR SECURE USER AUTHENTICATION AND AUTHORIZATION.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VALIDATION TO PREVENT MALICIOUS INPUT AND ENSURE DATA INTEGRITY.</a:t>
            </a:r>
          </a:p>
          <a:p>
            <a:pPr algn="just">
              <a:lnSpc>
                <a:spcPts val="4339"/>
              </a:lnSpc>
            </a:pPr>
            <a:endParaRPr lang="en-US" sz="27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649"/>
              </a:lnSpc>
            </a:pPr>
            <a:r>
              <a:rPr lang="en-US" sz="2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FACED DURING DEVELOPMENT INCLUDE:</a:t>
            </a:r>
          </a:p>
          <a:p>
            <a:pPr algn="just">
              <a:lnSpc>
                <a:spcPts val="4649"/>
              </a:lnSpc>
            </a:pPr>
            <a:endParaRPr lang="en-US" sz="29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ENSURING THE SECURITY AND PRIVACY OF SENSITIVE PATIENT DATA.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SCALABILITY OF THE SYSTEM TO HANDLE A GROWING NUMBER OF USERS AND DATA.</a:t>
            </a:r>
          </a:p>
          <a:p>
            <a:pPr marL="604519" lvl="1" indent="-302260" algn="just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INTEGRATING WITH EXISTING HEALTHCARE SYSTEMS AND ADHERING TO INDUSTRY STANDARDS.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904875"/>
            <a:ext cx="17259300" cy="100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8"/>
              </a:lnSpc>
              <a:spcBef>
                <a:spcPct val="0"/>
              </a:spcBef>
            </a:pPr>
            <a:r>
              <a:rPr lang="en-US" sz="5827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CONCLUSION &amp; FUTURE ENHANCEMENTS</a:t>
            </a:r>
          </a:p>
        </p:txBody>
      </p:sp>
      <p:sp>
        <p:nvSpPr>
          <p:cNvPr id="3" name="Freeform 3"/>
          <p:cNvSpPr/>
          <p:nvPr/>
        </p:nvSpPr>
        <p:spPr>
          <a:xfrm>
            <a:off x="514350" y="1886935"/>
            <a:ext cx="17259300" cy="376567"/>
          </a:xfrm>
          <a:custGeom>
            <a:avLst/>
            <a:gdLst/>
            <a:ahLst/>
            <a:cxnLst/>
            <a:rect l="l" t="t" r="r" b="b"/>
            <a:pathLst>
              <a:path w="17259300" h="376567">
                <a:moveTo>
                  <a:pt x="0" y="0"/>
                </a:moveTo>
                <a:lnTo>
                  <a:pt x="17259300" y="0"/>
                </a:lnTo>
                <a:lnTo>
                  <a:pt x="17259300" y="376567"/>
                </a:lnTo>
                <a:lnTo>
                  <a:pt x="0" y="376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3112036"/>
            <a:ext cx="16230600" cy="6019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HEALTHIFY PROVIDES AN AI-POWERED PLATFORM WITH THE POTENTIAL TO SIGNIFICANTLY IMPROVE HEALTHCARE ACCESS AND PERSONALIZATION.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 ACHIEVEMENTS INCLUDE THE DEVELOPMENT OF MODULES FOR USER AUTHENTICATION, AI-DRIVEN ANALYSIS, AND EFFICIENT DATA MANAGEMENT.</a:t>
            </a:r>
          </a:p>
          <a:p>
            <a:pPr algn="l">
              <a:lnSpc>
                <a:spcPts val="4339"/>
              </a:lnSpc>
            </a:pPr>
            <a:endParaRPr lang="en-US" sz="27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649"/>
              </a:lnSpc>
            </a:pPr>
            <a:r>
              <a:rPr lang="en-US" sz="2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ENHANCEMENTS MAY INCLUDE:</a:t>
            </a:r>
          </a:p>
          <a:p>
            <a:pPr algn="l">
              <a:lnSpc>
                <a:spcPts val="4649"/>
              </a:lnSpc>
            </a:pPr>
            <a:endParaRPr lang="en-US" sz="29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INTEGRATION WITH WEARABLE DEVICES FOR CONTINUOUS HEALTH MONITORING.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IMPLEMENTATION OF A CHATBOT FOR AUTOMATED PATIENT SUPPORT AND INTERACTION.</a:t>
            </a:r>
          </a:p>
          <a:p>
            <a:pPr marL="604519" lvl="1" indent="-302260" algn="l">
              <a:lnSpc>
                <a:spcPts val="433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EXPANDING THE AI CAPABILITIES TO COVER A BROADER RANGE OF MEDICAL CONDITIONS.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03" b="-170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8912009" y="4326276"/>
            <a:ext cx="463982" cy="4760457"/>
          </a:xfrm>
          <a:custGeom>
            <a:avLst/>
            <a:gdLst/>
            <a:ahLst/>
            <a:cxnLst/>
            <a:rect l="l" t="t" r="r" b="b"/>
            <a:pathLst>
              <a:path w="463982" h="4760457">
                <a:moveTo>
                  <a:pt x="0" y="0"/>
                </a:moveTo>
                <a:lnTo>
                  <a:pt x="463982" y="0"/>
                </a:lnTo>
                <a:lnTo>
                  <a:pt x="463982" y="4760458"/>
                </a:lnTo>
                <a:lnTo>
                  <a:pt x="0" y="47604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857927" y="3691183"/>
            <a:ext cx="14572145" cy="259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11"/>
              </a:lnSpc>
              <a:spcBef>
                <a:spcPct val="0"/>
              </a:spcBef>
            </a:pPr>
            <a:r>
              <a:rPr lang="en-US" sz="15008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THANK YOU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8144623" y="8078534"/>
            <a:ext cx="143377" cy="1179766"/>
            <a:chOff x="0" y="0"/>
            <a:chExt cx="46272" cy="3807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272" cy="380749"/>
            </a:xfrm>
            <a:custGeom>
              <a:avLst/>
              <a:gdLst/>
              <a:ahLst/>
              <a:cxnLst/>
              <a:rect l="l" t="t" r="r" b="b"/>
              <a:pathLst>
                <a:path w="46272" h="380749">
                  <a:moveTo>
                    <a:pt x="0" y="0"/>
                  </a:moveTo>
                  <a:lnTo>
                    <a:pt x="46272" y="0"/>
                  </a:lnTo>
                  <a:lnTo>
                    <a:pt x="46272" y="380749"/>
                  </a:lnTo>
                  <a:lnTo>
                    <a:pt x="0" y="380749"/>
                  </a:lnTo>
                  <a:close/>
                </a:path>
              </a:pathLst>
            </a:custGeom>
            <a:gradFill rotWithShape="1">
              <a:gsLst>
                <a:gs pos="0">
                  <a:srgbClr val="6E009B">
                    <a:alpha val="100000"/>
                  </a:srgbClr>
                </a:gs>
                <a:gs pos="100000">
                  <a:srgbClr val="EB00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272" cy="418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1654</Words>
  <Application>Microsoft Office PowerPoint</Application>
  <PresentationFormat>Custom</PresentationFormat>
  <Paragraphs>222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Canva Sans Bold</vt:lpstr>
      <vt:lpstr>Times New Roman Bold</vt:lpstr>
      <vt:lpstr>Arial</vt:lpstr>
      <vt:lpstr>Times New Roman</vt:lpstr>
      <vt:lpstr>Calibri</vt:lpstr>
      <vt:lpstr>Bicubik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Futuristic Technology Presentation</dc:title>
  <cp:lastModifiedBy>Aryan Tyagi</cp:lastModifiedBy>
  <cp:revision>3</cp:revision>
  <dcterms:created xsi:type="dcterms:W3CDTF">2006-08-16T00:00:00Z</dcterms:created>
  <dcterms:modified xsi:type="dcterms:W3CDTF">2025-06-30T05:30:29Z</dcterms:modified>
  <dc:identifier>DAGrv-4sQmY</dc:identifier>
</cp:coreProperties>
</file>